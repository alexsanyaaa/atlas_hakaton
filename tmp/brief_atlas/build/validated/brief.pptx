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669e76750b4e8d" /><Relationship Type="http://schemas.openxmlformats.org/officeDocument/2006/relationships/extended-properties" Target="/docProps/app.xml" Id="R161d9db89076497f" /><Relationship Type="http://schemas.openxmlformats.org/officeDocument/2006/relationships/officeDocument" Target="/ppt/presentation.xml" Id="R52a82425d3134a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adc3aaf7bd4413"/>
  </p:sldMasterIdLst>
  <p:notesMasterIdLst>
    <p:notesMasterId xmlns:r="http://schemas.openxmlformats.org/officeDocument/2006/relationships" r:id="R30fc2682ec6f4dd6"/>
  </p:notesMasterIdLst>
  <p:sldIdLst>
    <p:sldId xmlns:r="http://schemas.openxmlformats.org/officeDocument/2006/relationships" id="256" r:id="R960d9cf23d5f4bed"/>
    <p:sldId xmlns:r="http://schemas.openxmlformats.org/officeDocument/2006/relationships" id="257" r:id="Rf2d036f5da5e42b8"/>
    <p:sldId xmlns:r="http://schemas.openxmlformats.org/officeDocument/2006/relationships" id="258" r:id="R325ed042a4f64b41"/>
    <p:sldId xmlns:r="http://schemas.openxmlformats.org/officeDocument/2006/relationships" id="259" r:id="Rd59cb30d79e04b41"/>
    <p:sldId xmlns:r="http://schemas.openxmlformats.org/officeDocument/2006/relationships" id="260" r:id="Re66e3afb768c41e0"/>
    <p:sldId xmlns:r="http://schemas.openxmlformats.org/officeDocument/2006/relationships" id="261" r:id="R97fd2cd8432c401f"/>
    <p:sldId xmlns:r="http://schemas.openxmlformats.org/officeDocument/2006/relationships" id="262" r:id="R06057412b8cc4731"/>
    <p:sldId xmlns:r="http://schemas.openxmlformats.org/officeDocument/2006/relationships" id="263" r:id="R0aff61f0d6b648ff"/>
    <p:sldId xmlns:r="http://schemas.openxmlformats.org/officeDocument/2006/relationships" id="264" r:id="R2eca54fd4ca74f54"/>
    <p:sldId xmlns:r="http://schemas.openxmlformats.org/officeDocument/2006/relationships" id="265" r:id="R65066daa43b44b8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4f6c61ce30451c" /><Relationship Type="http://schemas.openxmlformats.org/officeDocument/2006/relationships/slideMaster" Target="/ppt/slideMasters/slideMaster1.xml" Id="R16adc3aaf7bd4413" /><Relationship Type="http://schemas.openxmlformats.org/officeDocument/2006/relationships/notesMaster" Target="/ppt/notesMasters/notesMaster1.xml" Id="R30fc2682ec6f4dd6" /><Relationship Type="http://schemas.openxmlformats.org/officeDocument/2006/relationships/presProps" Target="/ppt/presProps.xml" Id="R162d5b2b94cb4cb8" /><Relationship Type="http://schemas.openxmlformats.org/officeDocument/2006/relationships/tableStyles" Target="/ppt/tableStyles.xml" Id="Re5777d96548e44e2" /><Relationship Type="http://schemas.openxmlformats.org/officeDocument/2006/relationships/slide" Target="/ppt/slides/slide1.xml" Id="R960d9cf23d5f4bed" /><Relationship Type="http://schemas.openxmlformats.org/officeDocument/2006/relationships/slide" Target="/ppt/slides/slide2.xml" Id="Rf2d036f5da5e42b8" /><Relationship Type="http://schemas.openxmlformats.org/officeDocument/2006/relationships/slide" Target="/ppt/slides/slide3.xml" Id="R325ed042a4f64b41" /><Relationship Type="http://schemas.openxmlformats.org/officeDocument/2006/relationships/slide" Target="/ppt/slides/slide4.xml" Id="Rd59cb30d79e04b41" /><Relationship Type="http://schemas.openxmlformats.org/officeDocument/2006/relationships/slide" Target="/ppt/slides/slide5.xml" Id="Re66e3afb768c41e0" /><Relationship Type="http://schemas.openxmlformats.org/officeDocument/2006/relationships/slide" Target="/ppt/slides/slide6.xml" Id="R97fd2cd8432c401f" /><Relationship Type="http://schemas.openxmlformats.org/officeDocument/2006/relationships/slide" Target="/ppt/slides/slide7.xml" Id="R06057412b8cc4731" /><Relationship Type="http://schemas.openxmlformats.org/officeDocument/2006/relationships/slide" Target="/ppt/slides/slide8.xml" Id="R0aff61f0d6b648ff" /><Relationship Type="http://schemas.openxmlformats.org/officeDocument/2006/relationships/slide" Target="/ppt/slides/slide9.xml" Id="R2eca54fd4ca74f54" /><Relationship Type="http://schemas.openxmlformats.org/officeDocument/2006/relationships/slide" Target="/ppt/slides/slide10.xml" Id="R65066daa43b44b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a2845986d440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1fc479306647f9" /><Relationship Type="http://schemas.openxmlformats.org/officeDocument/2006/relationships/notesMaster" Target="/ppt/notesMasters/notesMaster1.xml" Id="R1f437e8e864747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0617d71d0c3475f" /><Relationship Type="http://schemas.openxmlformats.org/officeDocument/2006/relationships/notesMaster" Target="/ppt/notesMasters/notesMaster1.xml" Id="R2335e908672946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7a7c960d4884098" /><Relationship Type="http://schemas.openxmlformats.org/officeDocument/2006/relationships/notesMaster" Target="/ppt/notesMasters/notesMaster1.xml" Id="Rfb07de0fc8d24c1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c229b2a75a845d0" /><Relationship Type="http://schemas.openxmlformats.org/officeDocument/2006/relationships/notesMaster" Target="/ppt/notesMasters/notesMaster1.xml" Id="R690edcc5750741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4b96b0fe271449f" /><Relationship Type="http://schemas.openxmlformats.org/officeDocument/2006/relationships/notesMaster" Target="/ppt/notesMasters/notesMaster1.xml" Id="Rb88bcc64a1dd45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4b85d6a7d404bab" /><Relationship Type="http://schemas.openxmlformats.org/officeDocument/2006/relationships/notesMaster" Target="/ppt/notesMasters/notesMaster1.xml" Id="Rc3db9d4e92e6405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e2555b1b4f47da" /><Relationship Type="http://schemas.openxmlformats.org/officeDocument/2006/relationships/notesMaster" Target="/ppt/notesMasters/notesMaster1.xml" Id="R5e8527081dde434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a4d093e227346c4" /><Relationship Type="http://schemas.openxmlformats.org/officeDocument/2006/relationships/notesMaster" Target="/ppt/notesMasters/notesMaster1.xml" Id="R29ce65ac4b484fb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32ccf90af84456a" /><Relationship Type="http://schemas.openxmlformats.org/officeDocument/2006/relationships/notesMaster" Target="/ppt/notesMasters/notesMaster1.xml" Id="R3153209efbaf46f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98366cfdba44e90" /><Relationship Type="http://schemas.openxmlformats.org/officeDocument/2006/relationships/notesMaster" Target="/ppt/notesMasters/notesMaster1.xml" Id="R1edd02a421fe44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задачи: условия кейса М.Видео и переписка команды. Основной пользователь определён в приложенных версиях интерфейса: atlas.zip/atlas/README.md и atlas(1).zip/atlas/js/views/catalog.js. Экономия труда является ожидаемым эффектом, а не измеренным результатом.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материалы кейса в переписке, atlas.zip/atlas/README.md, код обеих версий. Фронтенды работают локально без подключения обученных моделей. Числа в операционных экранах иллюстрируют механику интерфейса. Предусмотренный формат результата не означает готовую серверную интеграцию.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Изображение: atlas(1).zip, экран Добавить товары, пример Чайник. Локальный извлекатель формирует черновик Tefal KO6931 Sense. Другой путь ввода, импорт CSV/JSON и TXT, также присутствует в обеих версиях. Это прототип сценария интерфейса.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Сравнение четырёх подходов запрошено пользователем, в том числе выбор лучшего/недорогого. Возможности сравнения представлены в atlas.zip/atlas/js/approaches.js и atlas(1).zip/atlas/js/views/approaches.js. Рабочие гипотезы не являются доказанным рейтингом. Числа: скриншот трансформера из переписки, шаг 6000, support 21314, F1 0.9174417799, P 0.9028756, R 0.9324857, разметка silver; /home/alex/Downloads/Текстовый документ(1).txt: правила+БЗ, dev 2389 карточек, micro F1 0.925, P 0.983, R 0.874. Новые версии сайта содержат другие оценки и наборы; они не объединяются с этими числами. LLM ещё не разработана.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Изображение: atlas(1).zip, каталог с 43 подготовленными карточками. Поиск, статусы, выделение и обработка новых карточек доступны в локальном интерфейсе. 76% и численность карточек на скриншоте не являются оценкой эффекта внедрения в М.Видео.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Изображение: atlas(1).zip, карточка TECNO Spark 20C, SKU 30074402, подготовленный сценарий расхождения RAM 4/5 ГБ. Фрагменты из описания и параметров продавца показаны в интерфейсе. Презентация не утверждает, какое из двух значений фактически верно. Требуется сверка с надёжным источником поставщика.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Изображение: atlas.zip, экран Словари нормализации, поиск кВт. Правило кВт/kW -&gt; Вт с множителем 1000. В предпросмотре 2,2 кВт -&gt; 2200 Вт, 1700 мл -&gt; 1,7 л, ОЗУ -&gt; Оперативная память. Правки словарей не должны незаметно менять принятые ранее значения.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Изображение: atlas(1).zip, модальное окно Выгрузка данных. Реализованы локальные CSV/JSON, статусы решений и аналитика. Здесь описана предполагаемая передача в товарную систему через файл, а не готовая серверная интеграция. Количество 18 готовых карточек на скриншоте относится только к подготовленному интерфейсному набору.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Ценность сформулирована как ожидаемый эффект на основе задачи и механик интерфейса. Нет измеренного экономического эффекта, доказанного роста конверсии или производственного процента автоматизации. Для проверки нужен пилот с сопоставимой ручной группой и учётом стоимости труда.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Метрики и порог 98% являются предложенным протоколом пилота, не условиями организатора и не достигнутым результатом. Порог скорости и минимальный F1 согласуются перед общим экспериментом, после оценки ручного базового процесса и SLA каталога. Полная стоимость включает инференс/API, труд проверки и исправлений, амортизацию обучения и поддержку. Сравнение одних правил, CRF, трансформера, LLM и гибридов проводится на том же test. Уверенность моделей калибруется по dev, затем пороги фиксируются. Обучение и test разделяют по товарным группам, чтобы близкие варианты SKU не давали утечку.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7863fb54794c4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2e532af5434aa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db1d6223ac443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7970ee10cb4b7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54a828ad864ab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15b4d03e2f494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46538C9-B5B8-4E09-9E64-9CE0FF766C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87FD409-E969-47BF-BB53-94928AD06BF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F7208E3-2469-48E3-AB40-5298DEF911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67A77B5-D866-4870-902C-E6399492F3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AE6239E-0650-45DE-93C1-CCBB8872E2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6D060E0-7033-428C-9877-04D481F9DE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DCACF16-9333-46C5-9AD6-2F052C4EB6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EA55FC3-261C-4BC1-BEE2-1892F81EB9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1320560-1E71-4838-ACEA-209B613E6D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C43A8DE-2814-4EB2-BC9D-7CB944EC93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1b53be285947ca" /><Relationship Type="http://schemas.openxmlformats.org/officeDocument/2006/relationships/slideLayout" Target="/ppt/slideLayouts/slideLayout1.xml" Id="R5b9bb3459fc0419b" /><Relationship Type="http://schemas.openxmlformats.org/officeDocument/2006/relationships/slideLayout" Target="/ppt/slideLayouts/slideLayout2.xml" Id="Rb62243fb3a28446a" /><Relationship Type="http://schemas.openxmlformats.org/officeDocument/2006/relationships/slideLayout" Target="/ppt/slideLayouts/slideLayout3.xml" Id="Rdff780af6a50448e" /><Relationship Type="http://schemas.openxmlformats.org/officeDocument/2006/relationships/slideLayout" Target="/ppt/slideLayouts/slideLayout4.xml" Id="R46aab8934aa84668" /><Relationship Type="http://schemas.openxmlformats.org/officeDocument/2006/relationships/slideLayout" Target="/ppt/slideLayouts/slideLayout5.xml" Id="R49591497fdc94636" /><Relationship Type="http://schemas.openxmlformats.org/officeDocument/2006/relationships/slideLayout" Target="/ppt/slideLayouts/slideLayout6.xml" Id="R8c9cef35392a40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9bb3459fc0419b"/>
    <p:sldLayoutId xmlns:r="http://schemas.openxmlformats.org/officeDocument/2006/relationships" id="2147483650" r:id="Rb62243fb3a28446a"/>
    <p:sldLayoutId xmlns:r="http://schemas.openxmlformats.org/officeDocument/2006/relationships" id="2147483651" r:id="Rdff780af6a50448e"/>
    <p:sldLayoutId xmlns:r="http://schemas.openxmlformats.org/officeDocument/2006/relationships" id="2147483652" r:id="R46aab8934aa84668"/>
    <p:sldLayoutId xmlns:r="http://schemas.openxmlformats.org/officeDocument/2006/relationships" id="2147483653" r:id="R49591497fdc94636"/>
    <p:sldLayoutId xmlns:r="http://schemas.openxmlformats.org/officeDocument/2006/relationships" id="2147483654" r:id="R8c9cef35392a40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2b242ffdcb4314" /><Relationship Type="http://schemas.openxmlformats.org/officeDocument/2006/relationships/notesSlide" Target="/ppt/notesSlides/notesSlide1.xml" Id="Ra1b6bbc116214f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ffe3573cd94834" /><Relationship Type="http://schemas.openxmlformats.org/officeDocument/2006/relationships/notesSlide" Target="/ppt/notesSlides/notesSlide2.xml" Id="R419ea3e1af3349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8a905cbe3640db" /><Relationship Type="http://schemas.openxmlformats.org/officeDocument/2006/relationships/image" Target="/ppt/media/image.jpeg" Id="Rf796eb6e17ef431a" /><Relationship Type="http://schemas.openxmlformats.org/officeDocument/2006/relationships/notesSlide" Target="/ppt/notesSlides/notesSlide3.xml" Id="R93c459a0d5bd47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47657699a342f0" /><Relationship Type="http://schemas.openxmlformats.org/officeDocument/2006/relationships/notesSlide" Target="/ppt/notesSlides/notesSlide4.xml" Id="Re90f7808e38b47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c8a66e5014433c" /><Relationship Type="http://schemas.openxmlformats.org/officeDocument/2006/relationships/image" Target="/ppt/media/image2.jpeg" Id="R252d97aa4f334b11" /><Relationship Type="http://schemas.openxmlformats.org/officeDocument/2006/relationships/notesSlide" Target="/ppt/notesSlides/notesSlide5.xml" Id="R6c87b2813be44cd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f12045bf55496b" /><Relationship Type="http://schemas.openxmlformats.org/officeDocument/2006/relationships/image" Target="/ppt/media/image3.jpeg" Id="Rbeb335c3c8f94246" /><Relationship Type="http://schemas.openxmlformats.org/officeDocument/2006/relationships/notesSlide" Target="/ppt/notesSlides/notesSlide6.xml" Id="Racae0330e2f54a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b62df218bf4411" /><Relationship Type="http://schemas.openxmlformats.org/officeDocument/2006/relationships/image" Target="/ppt/media/image4.jpeg" Id="Rbaa1923054934482" /><Relationship Type="http://schemas.openxmlformats.org/officeDocument/2006/relationships/notesSlide" Target="/ppt/notesSlides/notesSlide7.xml" Id="R84df454342cc466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0a87aac6794187" /><Relationship Type="http://schemas.openxmlformats.org/officeDocument/2006/relationships/image" Target="/ppt/media/image5.jpeg" Id="R5748804d1ef24e24" /><Relationship Type="http://schemas.openxmlformats.org/officeDocument/2006/relationships/notesSlide" Target="/ppt/notesSlides/notesSlide8.xml" Id="R08c4efdb5729403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5d7676570647df" /><Relationship Type="http://schemas.openxmlformats.org/officeDocument/2006/relationships/notesSlide" Target="/ppt/notesSlides/notesSlide9.xml" Id="R102a929b44b4489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5e5fb9efca4bec" /><Relationship Type="http://schemas.openxmlformats.org/officeDocument/2006/relationships/notesSlide" Target="/ppt/notesSlides/notesSlide10.xml" Id="R0cbc2bdd3615420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D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Вопрос 1. Задача бизнеса и пользователь">
            <a:extLst xmlns:a="http://schemas.openxmlformats.org/drawingml/2006/main">
              <a:ext uri="{FF2B5EF4-FFF2-40B4-BE49-F238E27FC236}">
                <a16:creationId xmlns:a16="http://schemas.microsoft.com/office/drawing/2014/main" id="{494319C4-0B6D-4DC7-A70B-1C26797E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E5EBD9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E5EBD9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E5EBD9"/>
                </a:solidFill>
                <a:latin typeface="Noto Sans"/>
                <a:ea typeface="Noto Sans"/>
                <a:cs typeface="Noto Sans"/>
              </a:rPr>
              <a:t>Вопрос 1. Задача бизнеса и пользователь</a:t>
            </a:r>
          </a:p>
        </p:txBody>
      </p:sp>
      <p:sp>
        <p:nvSpPr>
          <p:cNvPr id="2" name="01 / 10">
            <a:extLst xmlns:a="http://schemas.openxmlformats.org/drawingml/2006/main">
              <a:ext uri="{FF2B5EF4-FFF2-40B4-BE49-F238E27FC236}">
                <a16:creationId xmlns:a16="http://schemas.microsoft.com/office/drawing/2014/main" id="{60D1CF8D-F950-43B8-963A-2825859B5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95275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E5EBD9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125" b="0">
                <a:solidFill>
                  <a:srgbClr val="E5EBD9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E5EBD9"/>
                </a:solidFill>
                <a:latin typeface="Noto Sans"/>
                <a:ea typeface="Noto Sans"/>
                <a:cs typeface="Noto Sans"/>
              </a:rPr>
              <a:t>01 / 10</a:t>
            </a:r>
          </a:p>
        </p:txBody>
      </p:sp>
      <p:sp>
        <p:nvSpPr>
          <p:cNvPr id="3" name="АТЛАС">
            <a:extLst xmlns:a="http://schemas.openxmlformats.org/drawingml/2006/main">
              <a:ext uri="{FF2B5EF4-FFF2-40B4-BE49-F238E27FC236}">
                <a16:creationId xmlns:a16="http://schemas.microsoft.com/office/drawing/2014/main" id="{665D48D6-B948-4566-9DED-B3503A70F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E5EBD9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E5EBD9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E5EBD9"/>
                </a:solidFill>
                <a:latin typeface="Noto Sans"/>
                <a:ea typeface="Noto Sans"/>
                <a:cs typeface="Noto Sans"/>
              </a:rPr>
              <a:t>АТЛАС</a:t>
            </a:r>
          </a:p>
        </p:txBody>
      </p:sp>
      <p:sp>
        <p:nvSpPr>
          <p:cNvPr id="4" name="Атлас">
            <a:extLst xmlns:a="http://schemas.openxmlformats.org/drawingml/2006/main">
              <a:ext uri="{FF2B5EF4-FFF2-40B4-BE49-F238E27FC236}">
                <a16:creationId xmlns:a16="http://schemas.microsoft.com/office/drawing/2014/main" id="{6BBD7FFC-69BC-4E41-9E1D-21524D35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"/>
            <a:ext cx="6572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600" b="0">
                <a:solidFill>
                  <a:srgbClr val="FFFFFF"/>
                </a:solidFill>
                <a:latin typeface="Noto Serif"/>
                <a:ea typeface="Noto Serif"/>
                <a:cs typeface="Noto Serif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600" b="0">
                <a:solidFill>
                  <a:srgbClr val="FFFFFF"/>
                </a:solidFill>
                <a:latin typeface="Noto Serif"/>
                <a:ea typeface="Noto Serif"/>
                <a:cs typeface="Noto Serif"/>
              </a:defRPr>
            </a:pPr>
            <a:r>
              <a:rPr sz="6600" b="0">
                <a:solidFill>
                  <a:srgbClr val="FFFFFF"/>
                </a:solidFill>
                <a:latin typeface="Noto Serif"/>
                <a:ea typeface="Noto Serif"/>
                <a:cs typeface="Noto Serif"/>
              </a:rPr>
              <a:t>Атлас</a:t>
            </a:r>
          </a:p>
        </p:txBody>
      </p:sp>
      <p:sp>
        <p:nvSpPr>
          <p:cNvPr id="5" name="Автоматическое заполнение&#10;характеристик то">
            <a:extLst xmlns:a="http://schemas.openxmlformats.org/drawingml/2006/main">
              <a:ext uri="{FF2B5EF4-FFF2-40B4-BE49-F238E27FC236}">
                <a16:creationId xmlns:a16="http://schemas.microsoft.com/office/drawing/2014/main" id="{93D22C5A-F537-4722-8D13-A36FF97A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666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Автоматическое заполнение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характеристик товаров</a:t>
            </a:r>
          </a:p>
        </p:txBody>
      </p:sp>
      <p:sp>
        <p:nvSpPr>
          <p:cNvPr id="6" name="Из названия, описания и параметров продавц">
            <a:extLst xmlns:a="http://schemas.openxmlformats.org/drawingml/2006/main">
              <a:ext uri="{FF2B5EF4-FFF2-40B4-BE49-F238E27FC236}">
                <a16:creationId xmlns:a16="http://schemas.microsoft.com/office/drawing/2014/main" id="{F85C0963-9031-4EB6-B3B6-82D128A2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666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5EBD9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E5EBD9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E5EBD9"/>
                </a:solidFill>
                <a:latin typeface="Noto Sans"/>
                <a:ea typeface="Noto Sans"/>
                <a:cs typeface="Noto Sans"/>
              </a:rPr>
              <a:t>Из названия, описания и параметров продавца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E5EBD9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E5EBD9"/>
                </a:solidFill>
                <a:latin typeface="Noto Sans"/>
                <a:ea typeface="Noto Sans"/>
                <a:cs typeface="Noto Sans"/>
              </a:rPr>
              <a:t>получаем структурированные значения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E5EBD9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E5EBD9"/>
                </a:solidFill>
                <a:latin typeface="Noto Sans"/>
                <a:ea typeface="Noto Sans"/>
                <a:cs typeface="Noto Sans"/>
              </a:rPr>
              <a:t>с подтверждением из исходного текста.</a:t>
            </a:r>
          </a:p>
        </p:txBody>
      </p:sp>
      <p:sp>
        <p:nvSpPr>
          <p:cNvPr id="7" name="Основной пользователь">
            <a:extLst xmlns:a="http://schemas.openxmlformats.org/drawingml/2006/main">
              <a:ext uri="{FF2B5EF4-FFF2-40B4-BE49-F238E27FC236}">
                <a16:creationId xmlns:a16="http://schemas.microsoft.com/office/drawing/2014/main" id="{D017D5B2-1B27-498F-AB4B-C2F8FA4B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20015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E5EBD9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E5EBD9"/>
                </a:solidFill>
                <a:latin typeface="Noto Sans"/>
                <a:ea typeface="Noto Sans"/>
                <a:cs typeface="Noto Sans"/>
              </a:defRPr>
            </a:pPr>
            <a:r>
              <a:rPr sz="1575" b="1">
                <a:solidFill>
                  <a:srgbClr val="E5EBD9"/>
                </a:solidFill>
                <a:latin typeface="Noto Sans"/>
                <a:ea typeface="Noto Sans"/>
                <a:cs typeface="Noto Sans"/>
              </a:rPr>
              <a:t>Основной пользователь</a:t>
            </a:r>
          </a:p>
        </p:txBody>
      </p:sp>
      <p:sp>
        <p:nvSpPr>
          <p:cNvPr id="8" name="Контент-менеджер&#10;товарного каталога">
            <a:extLst xmlns:a="http://schemas.openxmlformats.org/drawingml/2006/main">
              <a:ext uri="{FF2B5EF4-FFF2-40B4-BE49-F238E27FC236}">
                <a16:creationId xmlns:a16="http://schemas.microsoft.com/office/drawing/2014/main" id="{FC14760D-43AD-41AA-96E6-C6D927DE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14500"/>
            <a:ext cx="371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25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Контент-менеджер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25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товарного каталога</a:t>
            </a:r>
          </a:p>
        </p:txBody>
      </p:sp>
      <p:sp>
        <p:nvSpPr>
          <p:cNvPr id="9" name="Проверяет предложения системы&#10;и готовит ка">
            <a:extLst xmlns:a="http://schemas.openxmlformats.org/drawingml/2006/main">
              <a:ext uri="{FF2B5EF4-FFF2-40B4-BE49-F238E27FC236}">
                <a16:creationId xmlns:a16="http://schemas.microsoft.com/office/drawing/2014/main" id="{1DC90E3D-3847-4670-89B3-9C4F0F274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43200"/>
            <a:ext cx="361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E5EBD9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E5EBD9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E5EBD9"/>
                </a:solidFill>
                <a:latin typeface="Noto Sans"/>
                <a:ea typeface="Noto Sans"/>
                <a:cs typeface="Noto Sans"/>
              </a:rPr>
              <a:t>Проверяет предложения системы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E5EBD9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E5EBD9"/>
                </a:solidFill>
                <a:latin typeface="Noto Sans"/>
                <a:ea typeface="Noto Sans"/>
                <a:cs typeface="Noto Sans"/>
              </a:rPr>
              <a:t>и готовит карточки к выгрузке.</a:t>
            </a:r>
          </a:p>
        </p:txBody>
      </p:sp>
      <p:sp>
        <p:nvSpPr>
          <p:cNvPr id="10" name="Задача бизнеса">
            <a:extLst xmlns:a="http://schemas.openxmlformats.org/drawingml/2006/main">
              <a:ext uri="{FF2B5EF4-FFF2-40B4-BE49-F238E27FC236}">
                <a16:creationId xmlns:a16="http://schemas.microsoft.com/office/drawing/2014/main" id="{32C47952-4E0B-4F3F-8584-F57A4AFE1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6240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E5EBD9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E5EBD9"/>
                </a:solidFill>
                <a:latin typeface="Noto Sans"/>
                <a:ea typeface="Noto Sans"/>
                <a:cs typeface="Noto Sans"/>
              </a:defRPr>
            </a:pPr>
            <a:r>
              <a:rPr sz="1575" b="1">
                <a:solidFill>
                  <a:srgbClr val="E5EBD9"/>
                </a:solidFill>
                <a:latin typeface="Noto Sans"/>
                <a:ea typeface="Noto Sans"/>
                <a:cs typeface="Noto Sans"/>
              </a:rPr>
              <a:t>Задача бизнеса</a:t>
            </a:r>
          </a:p>
        </p:txBody>
      </p:sp>
      <p:sp>
        <p:nvSpPr>
          <p:cNvPr id="11" name="Сократить ручной перенос данных&#10;и исправле">
            <a:extLst xmlns:a="http://schemas.openxmlformats.org/drawingml/2006/main">
              <a:ext uri="{FF2B5EF4-FFF2-40B4-BE49-F238E27FC236}">
                <a16:creationId xmlns:a16="http://schemas.microsoft.com/office/drawing/2014/main" id="{A3B52F3D-850C-4B49-B8B6-3C6CDA5E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38650"/>
            <a:ext cx="3714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Сократить ручной перенос данных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и исправление разнородных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характеристик каталога М.Видео.</a:t>
            </a:r>
          </a:p>
        </p:txBody>
      </p:sp>
      <p:sp>
        <p:nvSpPr>
          <p:cNvPr id="12" name="Сравниваем 4 подхода, чтобы выбрать&#10;эконом">
            <a:extLst xmlns:a="http://schemas.openxmlformats.org/drawingml/2006/main">
              <a:ext uri="{FF2B5EF4-FFF2-40B4-BE49-F238E27FC236}">
                <a16:creationId xmlns:a16="http://schemas.microsoft.com/office/drawing/2014/main" id="{8FCD6840-CFAB-426D-A420-AB3EAA6FC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690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Сравниваем 4 подхода, чтобы выбрать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экономичный вариант при нужном качестве.</a:t>
            </a:r>
          </a:p>
        </p:txBody>
      </p:sp>
    </p:spTree>
    <p:extLst>
      <p:ext uri="{BB962C8B-B14F-4D97-AF65-F5344CB8AC3E}">
        <p14:creationId xmlns:p14="http://schemas.microsoft.com/office/powerpoint/2010/main" val="9805790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Вопрос 2. Требования и ограничения">
            <a:extLst xmlns:a="http://schemas.openxmlformats.org/drawingml/2006/main">
              <a:ext uri="{FF2B5EF4-FFF2-40B4-BE49-F238E27FC236}">
                <a16:creationId xmlns:a16="http://schemas.microsoft.com/office/drawing/2014/main" id="{A65E8486-0CFD-4164-8B31-BAFF8492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586454"/>
                </a:solidFill>
                <a:latin typeface="Noto Sans"/>
                <a:ea typeface="Noto Sans"/>
                <a:cs typeface="Noto Sans"/>
              </a:rPr>
              <a:t>Вопрос 2. Требования и ограничения</a:t>
            </a:r>
          </a:p>
        </p:txBody>
      </p:sp>
      <p:sp>
        <p:nvSpPr>
          <p:cNvPr id="2" name="02 / 10">
            <a:extLst xmlns:a="http://schemas.openxmlformats.org/drawingml/2006/main">
              <a:ext uri="{FF2B5EF4-FFF2-40B4-BE49-F238E27FC236}">
                <a16:creationId xmlns:a16="http://schemas.microsoft.com/office/drawing/2014/main" id="{79BC10CE-63AB-493B-B08E-3F06C969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95275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125" b="0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586454"/>
                </a:solidFill>
                <a:latin typeface="Noto Sans"/>
                <a:ea typeface="Noto Sans"/>
                <a:cs typeface="Noto Sans"/>
              </a:rPr>
              <a:t>02 / 10</a:t>
            </a:r>
          </a:p>
        </p:txBody>
      </p:sp>
      <p:sp>
        <p:nvSpPr>
          <p:cNvPr id="3" name="Требования к результату">
            <a:extLst xmlns:a="http://schemas.openxmlformats.org/drawingml/2006/main">
              <a:ext uri="{FF2B5EF4-FFF2-40B4-BE49-F238E27FC236}">
                <a16:creationId xmlns:a16="http://schemas.microsoft.com/office/drawing/2014/main" id="{670993EC-957C-4E0E-981A-C77434B8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300" b="1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202A25"/>
                </a:solidFill>
                <a:latin typeface="Noto Sans"/>
                <a:ea typeface="Noto Sans"/>
                <a:cs typeface="Noto Sans"/>
              </a:rPr>
              <a:t>Требования к результату</a:t>
            </a:r>
          </a:p>
        </p:txBody>
      </p:sp>
      <p:sp>
        <p:nvSpPr>
          <p:cNvPr id="4" name="АТЛАС">
            <a:extLst xmlns:a="http://schemas.openxmlformats.org/drawingml/2006/main">
              <a:ext uri="{FF2B5EF4-FFF2-40B4-BE49-F238E27FC236}">
                <a16:creationId xmlns:a16="http://schemas.microsoft.com/office/drawing/2014/main" id="{E2CFC034-41FA-41C8-9543-7767D925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586454"/>
                </a:solidFill>
                <a:latin typeface="Noto Sans"/>
                <a:ea typeface="Noto Sans"/>
                <a:cs typeface="Noto Sans"/>
              </a:rPr>
              <a:t>АТЛАС</a:t>
            </a:r>
          </a:p>
        </p:txBody>
      </p:sp>
      <p:sp>
        <p:nvSpPr>
          <p:cNvPr id="5" name="Разные входные данные">
            <a:extLst xmlns:a="http://schemas.openxmlformats.org/drawingml/2006/main">
              <a:ext uri="{FF2B5EF4-FFF2-40B4-BE49-F238E27FC236}">
                <a16:creationId xmlns:a16="http://schemas.microsoft.com/office/drawing/2014/main" id="{56B732BA-22F9-4C17-BD1B-E270D4C5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202A25"/>
                </a:solidFill>
                <a:latin typeface="Noto Sans"/>
                <a:ea typeface="Noto Sans"/>
                <a:cs typeface="Noto Sans"/>
              </a:rPr>
              <a:t>Разные входные данные</a:t>
            </a:r>
          </a:p>
        </p:txBody>
      </p:sp>
      <p:sp>
        <p:nvSpPr>
          <p:cNvPr id="6" name="Название, описание и параметры продавца.&#10;П">
            <a:extLst xmlns:a="http://schemas.openxmlformats.org/drawingml/2006/main">
              <a:ext uri="{FF2B5EF4-FFF2-40B4-BE49-F238E27FC236}">
                <a16:creationId xmlns:a16="http://schemas.microsoft.com/office/drawing/2014/main" id="{CD0EFD59-30F8-4CE1-9C77-C2B6A7681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76475"/>
            <a:ext cx="5143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202A25"/>
                </a:solidFill>
                <a:latin typeface="Noto Sans"/>
                <a:ea typeface="Noto Sans"/>
                <a:cs typeface="Noto Sans"/>
              </a:rPr>
              <a:t>Название, описание и параметры продавца.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202A25"/>
                </a:solidFill>
                <a:latin typeface="Noto Sans"/>
                <a:ea typeface="Noto Sans"/>
                <a:cs typeface="Noto Sans"/>
              </a:rPr>
              <a:t>Партии CSV / JSON, описание в TXT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202A25"/>
                </a:solidFill>
                <a:latin typeface="Noto Sans"/>
                <a:ea typeface="Noto Sans"/>
                <a:cs typeface="Noto Sans"/>
              </a:rPr>
              <a:t>или обычный вставленный текст.</a:t>
            </a:r>
          </a:p>
        </p:txBody>
      </p:sp>
      <p:sp>
        <p:nvSpPr>
          <p:cNvPr id="7" name="Схема зависит от категории">
            <a:extLst xmlns:a="http://schemas.openxmlformats.org/drawingml/2006/main">
              <a:ext uri="{FF2B5EF4-FFF2-40B4-BE49-F238E27FC236}">
                <a16:creationId xmlns:a16="http://schemas.microsoft.com/office/drawing/2014/main" id="{5D5096CC-F6B3-4664-BC9C-08220399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202A25"/>
                </a:solidFill>
                <a:latin typeface="Noto Sans"/>
                <a:ea typeface="Noto Sans"/>
                <a:cs typeface="Noto Sans"/>
              </a:rPr>
              <a:t>Схема зависит от категории</a:t>
            </a:r>
          </a:p>
        </p:txBody>
      </p:sp>
      <p:sp>
        <p:nvSpPr>
          <p:cNvPr id="8" name="Бренд, модель и ключевые характеристики.&#10;Е">
            <a:extLst xmlns:a="http://schemas.openxmlformats.org/drawingml/2006/main">
              <a:ext uri="{FF2B5EF4-FFF2-40B4-BE49-F238E27FC236}">
                <a16:creationId xmlns:a16="http://schemas.microsoft.com/office/drawing/2014/main" id="{4E1688F8-6033-419F-A478-BCCDB634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514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202A25"/>
                </a:solidFill>
                <a:latin typeface="Noto Sans"/>
                <a:ea typeface="Noto Sans"/>
                <a:cs typeface="Noto Sans"/>
              </a:rPr>
              <a:t>Бренд, модель и ключевые характеристики.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202A25"/>
                </a:solidFill>
                <a:latin typeface="Noto Sans"/>
                <a:ea typeface="Noto Sans"/>
                <a:cs typeface="Noto Sans"/>
              </a:rPr>
              <a:t>Единые названия, типы и единицы.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202A25"/>
                </a:solidFill>
                <a:latin typeface="Noto Sans"/>
                <a:ea typeface="Noto Sans"/>
                <a:cs typeface="Noto Sans"/>
              </a:rPr>
              <a:t>Результат включает оценку и источник.</a:t>
            </a:r>
          </a:p>
        </p:txBody>
      </p:sp>
      <p:sp>
        <p:nvSpPr>
          <p:cNvPr id="9" name="Проверяемое основание">
            <a:extLst xmlns:a="http://schemas.openxmlformats.org/drawingml/2006/main">
              <a:ext uri="{FF2B5EF4-FFF2-40B4-BE49-F238E27FC236}">
                <a16:creationId xmlns:a16="http://schemas.microsoft.com/office/drawing/2014/main" id="{B208FC61-0C17-4A10-A2D6-B77C7B00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43075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202A25"/>
                </a:solidFill>
                <a:latin typeface="Noto Sans"/>
                <a:ea typeface="Noto Sans"/>
                <a:cs typeface="Noto Sans"/>
              </a:rPr>
              <a:t>Проверяемое основание</a:t>
            </a:r>
          </a:p>
        </p:txBody>
      </p:sp>
      <p:sp>
        <p:nvSpPr>
          <p:cNvPr id="10" name="Каждое извлечённое значение связано&#10;с цита">
            <a:extLst xmlns:a="http://schemas.openxmlformats.org/drawingml/2006/main">
              <a:ext uri="{FF2B5EF4-FFF2-40B4-BE49-F238E27FC236}">
                <a16:creationId xmlns:a16="http://schemas.microsoft.com/office/drawing/2014/main" id="{C7302CDF-C23B-4612-9B26-69A2F2CB5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76475"/>
            <a:ext cx="5143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202A25"/>
                </a:solidFill>
                <a:latin typeface="Noto Sans"/>
                <a:ea typeface="Noto Sans"/>
                <a:cs typeface="Noto Sans"/>
              </a:rPr>
              <a:t>Каждое извлечённое значение связано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202A25"/>
                </a:solidFill>
                <a:latin typeface="Noto Sans"/>
                <a:ea typeface="Noto Sans"/>
                <a:cs typeface="Noto Sans"/>
              </a:rPr>
              <a:t>с цитатой. Оценка модели помогает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202A25"/>
                </a:solidFill>
                <a:latin typeface="Noto Sans"/>
                <a:ea typeface="Noto Sans"/>
                <a:cs typeface="Noto Sans"/>
              </a:rPr>
              <a:t>назначить проверку, но не гарантирует ответ.</a:t>
            </a:r>
          </a:p>
        </p:txBody>
      </p:sp>
      <p:sp>
        <p:nvSpPr>
          <p:cNvPr id="11" name="Неопределённость сохраняется">
            <a:extLst xmlns:a="http://schemas.openxmlformats.org/drawingml/2006/main">
              <a:ext uri="{FF2B5EF4-FFF2-40B4-BE49-F238E27FC236}">
                <a16:creationId xmlns:a16="http://schemas.microsoft.com/office/drawing/2014/main" id="{0F5F000B-CFEA-45B3-926E-94AFA190C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38575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202A25"/>
                </a:solidFill>
                <a:latin typeface="Noto Sans"/>
                <a:ea typeface="Noto Sans"/>
                <a:cs typeface="Noto Sans"/>
              </a:rPr>
              <a:t>Неопределённость сохраняется</a:t>
            </a:r>
          </a:p>
        </p:txBody>
      </p:sp>
      <p:sp>
        <p:nvSpPr>
          <p:cNvPr id="12" name="Если данных нет, поле остаётся пустым.&#10;Рас">
            <a:extLst xmlns:a="http://schemas.openxmlformats.org/drawingml/2006/main">
              <a:ext uri="{FF2B5EF4-FFF2-40B4-BE49-F238E27FC236}">
                <a16:creationId xmlns:a16="http://schemas.microsoft.com/office/drawing/2014/main" id="{58BA1C89-EBA7-44E2-BDDC-681887BD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52925"/>
            <a:ext cx="514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202A25"/>
                </a:solidFill>
                <a:latin typeface="Noto Sans"/>
                <a:ea typeface="Noto Sans"/>
                <a:cs typeface="Noto Sans"/>
              </a:rPr>
              <a:t>Если данных нет, поле остаётся пустым.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202A25"/>
                </a:solidFill>
                <a:latin typeface="Noto Sans"/>
                <a:ea typeface="Noto Sans"/>
                <a:cs typeface="Noto Sans"/>
              </a:rPr>
              <a:t>Расхождения требуют решения человека.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202A25"/>
                </a:solidFill>
                <a:latin typeface="Noto Sans"/>
                <a:ea typeface="Noto Sans"/>
                <a:cs typeface="Noto Sans"/>
              </a:rPr>
              <a:t>Отклонение и отсутствие различаются.</a:t>
            </a:r>
          </a:p>
        </p:txBody>
      </p:sp>
      <p:sp>
        <p:nvSpPr>
          <p:cNvPr id="13" name="Сейчас: интерфейс реализован, модели оцени">
            <a:extLst xmlns:a="http://schemas.openxmlformats.org/drawingml/2006/main">
              <a:ext uri="{FF2B5EF4-FFF2-40B4-BE49-F238E27FC236}">
                <a16:creationId xmlns:a16="http://schemas.microsoft.com/office/drawing/2014/main" id="{43EA85E9-0382-485E-BADE-D9CB0FA8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586454"/>
                </a:solidFill>
                <a:latin typeface="Noto Sans"/>
                <a:ea typeface="Noto Sans"/>
                <a:cs typeface="Noto Sans"/>
              </a:rPr>
              <a:t>Сейчас: интерфейс реализован, модели оцениваем отдельно. Подключение к интерфейсу и общий прогон впереди. LLM в разработке.</a:t>
            </a:r>
          </a:p>
        </p:txBody>
      </p:sp>
    </p:spTree>
    <p:extLst>
      <p:ext uri="{BB962C8B-B14F-4D97-AF65-F5344CB8AC3E}">
        <p14:creationId xmlns:p14="http://schemas.microsoft.com/office/powerpoint/2010/main" val="8522740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Вопрос 3. Основной сценарий решения">
            <a:extLst xmlns:a="http://schemas.openxmlformats.org/drawingml/2006/main">
              <a:ext uri="{FF2B5EF4-FFF2-40B4-BE49-F238E27FC236}">
                <a16:creationId xmlns:a16="http://schemas.microsoft.com/office/drawing/2014/main" id="{E425F5E5-D212-4572-8D1B-A80D735F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586454"/>
                </a:solidFill>
                <a:latin typeface="Noto Sans"/>
                <a:ea typeface="Noto Sans"/>
                <a:cs typeface="Noto Sans"/>
              </a:rPr>
              <a:t>Вопрос 3. Основной сценарий решения</a:t>
            </a:r>
          </a:p>
        </p:txBody>
      </p:sp>
      <p:sp>
        <p:nvSpPr>
          <p:cNvPr id="2" name="03 / 10">
            <a:extLst xmlns:a="http://schemas.openxmlformats.org/drawingml/2006/main">
              <a:ext uri="{FF2B5EF4-FFF2-40B4-BE49-F238E27FC236}">
                <a16:creationId xmlns:a16="http://schemas.microsoft.com/office/drawing/2014/main" id="{369FBD20-29C4-40C0-8AD0-64A7378A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95275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125" b="0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586454"/>
                </a:solidFill>
                <a:latin typeface="Noto Sans"/>
                <a:ea typeface="Noto Sans"/>
                <a:cs typeface="Noto Sans"/>
              </a:rPr>
              <a:t>03 / 10</a:t>
            </a:r>
          </a:p>
        </p:txBody>
      </p:sp>
      <p:sp>
        <p:nvSpPr>
          <p:cNvPr id="3" name="1. Приём данных">
            <a:extLst xmlns:a="http://schemas.openxmlformats.org/drawingml/2006/main">
              <a:ext uri="{FF2B5EF4-FFF2-40B4-BE49-F238E27FC236}">
                <a16:creationId xmlns:a16="http://schemas.microsoft.com/office/drawing/2014/main" id="{94444F42-C078-44A5-88A4-9725A205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300" b="1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202A25"/>
                </a:solidFill>
                <a:latin typeface="Noto Sans"/>
                <a:ea typeface="Noto Sans"/>
                <a:cs typeface="Noto Sans"/>
              </a:rPr>
              <a:t>1. Приём данных</a:t>
            </a:r>
          </a:p>
        </p:txBody>
      </p:sp>
      <p:sp>
        <p:nvSpPr>
          <p:cNvPr id="4" name="АТЛАС">
            <a:extLst xmlns:a="http://schemas.openxmlformats.org/drawingml/2006/main">
              <a:ext uri="{FF2B5EF4-FFF2-40B4-BE49-F238E27FC236}">
                <a16:creationId xmlns:a16="http://schemas.microsoft.com/office/drawing/2014/main" id="{2AA0886D-D36F-43A8-892C-5FDD7FC3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586454"/>
                </a:solidFill>
                <a:latin typeface="Noto Sans"/>
                <a:ea typeface="Noto Sans"/>
                <a:cs typeface="Noto Sans"/>
              </a:rPr>
              <a:t>АТЛАС</a:t>
            </a:r>
          </a:p>
        </p:txBody>
      </p:sp>
      <p:sp>
        <p:nvSpPr>
          <p:cNvPr id="5" name="Партия товаров">
            <a:extLst xmlns:a="http://schemas.openxmlformats.org/drawingml/2006/main">
              <a:ext uri="{FF2B5EF4-FFF2-40B4-BE49-F238E27FC236}">
                <a16:creationId xmlns:a16="http://schemas.microsoft.com/office/drawing/2014/main" id="{8D3B90CC-01E5-445D-B2B0-48128FDC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202A25"/>
                </a:solidFill>
                <a:latin typeface="Noto Sans"/>
                <a:ea typeface="Noto Sans"/>
                <a:cs typeface="Noto Sans"/>
              </a:rPr>
              <a:t>Партия товаров</a:t>
            </a:r>
          </a:p>
        </p:txBody>
      </p:sp>
      <p:sp>
        <p:nvSpPr>
          <p:cNvPr id="6" name="Импорт CSV / JSON:&#10;предпросмотр строк,&#10;соп">
            <a:extLst xmlns:a="http://schemas.openxmlformats.org/drawingml/2006/main">
              <a:ext uri="{FF2B5EF4-FFF2-40B4-BE49-F238E27FC236}">
                <a16:creationId xmlns:a16="http://schemas.microsoft.com/office/drawing/2014/main" id="{DB53E31B-965D-4128-A0D1-EFABF6EF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371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202A25"/>
                </a:solidFill>
                <a:latin typeface="Noto Sans"/>
                <a:ea typeface="Noto Sans"/>
                <a:cs typeface="Noto Sans"/>
              </a:rPr>
              <a:t>Импорт CSV / JSON: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202A25"/>
                </a:solidFill>
                <a:latin typeface="Noto Sans"/>
                <a:ea typeface="Noto Sans"/>
                <a:cs typeface="Noto Sans"/>
              </a:rPr>
              <a:t>предпросмотр строк,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202A25"/>
                </a:solidFill>
                <a:latin typeface="Noto Sans"/>
                <a:ea typeface="Noto Sans"/>
                <a:cs typeface="Noto Sans"/>
              </a:rPr>
              <a:t>сопоставление колонок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202A25"/>
                </a:solidFill>
                <a:latin typeface="Noto Sans"/>
                <a:ea typeface="Noto Sans"/>
                <a:cs typeface="Noto Sans"/>
              </a:rPr>
              <a:t>и проверка ошибок.</a:t>
            </a:r>
          </a:p>
        </p:txBody>
      </p:sp>
      <p:sp>
        <p:nvSpPr>
          <p:cNvPr id="7" name="Один товар">
            <a:extLst xmlns:a="http://schemas.openxmlformats.org/drawingml/2006/main">
              <a:ext uri="{FF2B5EF4-FFF2-40B4-BE49-F238E27FC236}">
                <a16:creationId xmlns:a16="http://schemas.microsoft.com/office/drawing/2014/main" id="{5F97E2E3-C5A8-4B22-8420-7561274E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202A25"/>
                </a:solidFill>
                <a:latin typeface="Noto Sans"/>
                <a:ea typeface="Noto Sans"/>
                <a:cs typeface="Noto Sans"/>
              </a:rPr>
              <a:t>Один товар</a:t>
            </a:r>
          </a:p>
        </p:txBody>
      </p:sp>
      <p:sp>
        <p:nvSpPr>
          <p:cNvPr id="8" name="TXT или вставленный текст.&#10;Система предлаг">
            <a:extLst xmlns:a="http://schemas.openxmlformats.org/drawingml/2006/main">
              <a:ext uri="{FF2B5EF4-FFF2-40B4-BE49-F238E27FC236}">
                <a16:creationId xmlns:a16="http://schemas.microsoft.com/office/drawing/2014/main" id="{BAA41C23-0EAB-4193-8087-0F53D5104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3810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202A25"/>
                </a:solidFill>
                <a:latin typeface="Noto Sans"/>
                <a:ea typeface="Noto Sans"/>
                <a:cs typeface="Noto Sans"/>
              </a:rPr>
              <a:t>TXT или вставленный текст.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202A25"/>
                </a:solidFill>
                <a:latin typeface="Noto Sans"/>
                <a:ea typeface="Noto Sans"/>
                <a:cs typeface="Noto Sans"/>
              </a:rPr>
              <a:t>Система предлагает название,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202A25"/>
                </a:solidFill>
                <a:latin typeface="Noto Sans"/>
                <a:ea typeface="Noto Sans"/>
                <a:cs typeface="Noto Sans"/>
              </a:rPr>
              <a:t>категорию и характеристики.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202A25"/>
                </a:solidFill>
                <a:latin typeface="Noto Sans"/>
                <a:ea typeface="Noto Sans"/>
                <a:cs typeface="Noto Sans"/>
              </a:rPr>
              <a:t>Пользователь проверяет черновик.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1C099F-C851-497D-ABF7-B6833DAAAE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96eb6e17ef431a"/>
          <a:srcRect xmlns:a="http://schemas.openxmlformats.org/drawingml/2006/main" l="1581" t="25773" r="1581" b="4044"/>
          <a:stretch xmlns:a="http://schemas.openxmlformats.org/drawingml/2006/main"/>
        </p:blipFill>
        <p:spPr>
          <a:xfrm xmlns:a="http://schemas.openxmlformats.org/drawingml/2006/main">
            <a:off x="5257800" y="1504950"/>
            <a:ext cx="6324600" cy="4569201"/>
          </a:xfrm>
          <a:prstGeom xmlns:a="http://schemas.openxmlformats.org/drawingml/2006/main" prst="rect">
            <a:avLst/>
          </a:prstGeom>
        </p:spPr>
      </p:pic>
      <p:sp>
        <p:nvSpPr>
          <p:cNvPr id="10" name="Черновик по описанию. Название, категория ">
            <a:extLst xmlns:a="http://schemas.openxmlformats.org/drawingml/2006/main">
              <a:ext uri="{FF2B5EF4-FFF2-40B4-BE49-F238E27FC236}">
                <a16:creationId xmlns:a16="http://schemas.microsoft.com/office/drawing/2014/main" id="{FD892A5F-A128-4758-899B-15032B9A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6191250"/>
            <a:ext cx="6324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586454"/>
                </a:solidFill>
                <a:latin typeface="Noto Sans"/>
                <a:ea typeface="Noto Sans"/>
                <a:cs typeface="Noto Sans"/>
              </a:rPr>
              <a:t>Черновик по описанию. Название, категория и значения доступны для правки.</a:t>
            </a:r>
          </a:p>
        </p:txBody>
      </p:sp>
    </p:spTree>
    <p:extLst>
      <p:ext uri="{BB962C8B-B14F-4D97-AF65-F5344CB8AC3E}">
        <p14:creationId xmlns:p14="http://schemas.microsoft.com/office/powerpoint/2010/main" val="2704876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Вопрос 3. Основной сценарий решения">
            <a:extLst xmlns:a="http://schemas.openxmlformats.org/drawingml/2006/main">
              <a:ext uri="{FF2B5EF4-FFF2-40B4-BE49-F238E27FC236}">
                <a16:creationId xmlns:a16="http://schemas.microsoft.com/office/drawing/2014/main" id="{70B40637-414B-4B42-9000-67B28A9D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586454"/>
                </a:solidFill>
                <a:latin typeface="Noto Sans"/>
                <a:ea typeface="Noto Sans"/>
                <a:cs typeface="Noto Sans"/>
              </a:rPr>
              <a:t>Вопрос 3. Основной сценарий решения</a:t>
            </a:r>
          </a:p>
        </p:txBody>
      </p:sp>
      <p:sp>
        <p:nvSpPr>
          <p:cNvPr id="2" name="04 / 10">
            <a:extLst xmlns:a="http://schemas.openxmlformats.org/drawingml/2006/main">
              <a:ext uri="{FF2B5EF4-FFF2-40B4-BE49-F238E27FC236}">
                <a16:creationId xmlns:a16="http://schemas.microsoft.com/office/drawing/2014/main" id="{8F64940C-8D40-4C34-81B8-6FBC5493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95275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125" b="0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586454"/>
                </a:solidFill>
                <a:latin typeface="Noto Sans"/>
                <a:ea typeface="Noto Sans"/>
                <a:cs typeface="Noto Sans"/>
              </a:rPr>
              <a:t>04 / 10</a:t>
            </a:r>
          </a:p>
        </p:txBody>
      </p:sp>
      <p:sp>
        <p:nvSpPr>
          <p:cNvPr id="3" name="2. Сравнение четырёх подходов">
            <a:extLst xmlns:a="http://schemas.openxmlformats.org/drawingml/2006/main">
              <a:ext uri="{FF2B5EF4-FFF2-40B4-BE49-F238E27FC236}">
                <a16:creationId xmlns:a16="http://schemas.microsoft.com/office/drawing/2014/main" id="{AAFBD75D-DE46-48BC-AC11-AC9A81F7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300" b="1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202A25"/>
                </a:solidFill>
                <a:latin typeface="Noto Sans"/>
                <a:ea typeface="Noto Sans"/>
                <a:cs typeface="Noto Sans"/>
              </a:rPr>
              <a:t>2. Сравнение четырёх подходов</a:t>
            </a:r>
          </a:p>
        </p:txBody>
      </p:sp>
      <p:sp>
        <p:nvSpPr>
          <p:cNvPr id="4" name="АТЛАС">
            <a:extLst xmlns:a="http://schemas.openxmlformats.org/drawingml/2006/main">
              <a:ext uri="{FF2B5EF4-FFF2-40B4-BE49-F238E27FC236}">
                <a16:creationId xmlns:a16="http://schemas.microsoft.com/office/drawing/2014/main" id="{5A4989ED-8CF7-46EA-A1C5-B48F721D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586454"/>
                </a:solidFill>
                <a:latin typeface="Noto Sans"/>
                <a:ea typeface="Noto Sans"/>
                <a:cs typeface="Noto Sans"/>
              </a:rPr>
              <a:t>АТЛАС</a:t>
            </a:r>
          </a:p>
        </p:txBody>
      </p:sp>
      <p:sp>
        <p:nvSpPr>
          <p:cNvPr id="5" name="Общий эксперимент: одни карточки, одна схе">
            <a:extLst xmlns:a="http://schemas.openxmlformats.org/drawingml/2006/main">
              <a:ext uri="{FF2B5EF4-FFF2-40B4-BE49-F238E27FC236}">
                <a16:creationId xmlns:a16="http://schemas.microsoft.com/office/drawing/2014/main" id="{46ADF2FE-5459-4981-BD87-5E73306C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202A25"/>
                </a:solidFill>
                <a:latin typeface="Noto Sans"/>
                <a:ea typeface="Noto Sans"/>
                <a:cs typeface="Noto Sans"/>
              </a:rPr>
              <a:t>Общий эксперимент: одни карточки, одна схема характеристик и единые правила оценки.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0B69C3-FC69-4877-B001-65684A2B4C9E}"/>
              </a:ext>
            </a:extLst>
          </p:cNvPr>
          <p:cNvGraphicFramePr/>
          <p:nvPr/>
        </p:nvGraphicFramePr>
        <p:xfrm>
          <a:off xmlns:a="http://schemas.openxmlformats.org/drawingml/2006/main" x="609600" y="2133600"/>
          <a:ext xmlns:a="http://schemas.openxmlformats.org/drawingml/2006/main" cx="10972800" cy="2762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381250"/>
                <a:gridCol w="4572000"/>
                <a:gridCol w="4019550"/>
              </a:tblGrid>
              <a:tr h="4000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Подход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9CF"/>
                      </a:solidFill>
                      <a:prstDash val="solid"/>
                    </a:lnL>
                    <a:lnR w="9525">
                      <a:solidFill>
                        <a:srgbClr val="D5D9CF"/>
                      </a:solidFill>
                      <a:prstDash val="solid"/>
                    </a:lnR>
                    <a:lnT w="9525">
                      <a:solidFill>
                        <a:srgbClr val="D5D9CF"/>
                      </a:solidFill>
                      <a:prstDash val="solid"/>
                    </a:lnT>
                    <a:lnB w="9525">
                      <a:solidFill>
                        <a:srgbClr val="D5D9CF"/>
                      </a:solidFill>
                      <a:prstDash val="solid"/>
                    </a:lnB>
                    <a:solidFill>
                      <a:srgbClr val="173D35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Что проверяем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9CF"/>
                      </a:solidFill>
                      <a:prstDash val="solid"/>
                    </a:lnR>
                    <a:lnT w="9525">
                      <a:solidFill>
                        <a:srgbClr val="D5D9CF"/>
                      </a:solidFill>
                      <a:prstDash val="solid"/>
                    </a:lnT>
                    <a:lnB w="9525">
                      <a:solidFill>
                        <a:srgbClr val="D5D9CF"/>
                      </a:solidFill>
                      <a:prstDash val="solid"/>
                    </a:lnB>
                    <a:solidFill>
                      <a:srgbClr val="173D35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Что входит в стоимость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9CF"/>
                      </a:solidFill>
                      <a:prstDash val="solid"/>
                    </a:lnR>
                    <a:lnT w="9525">
                      <a:solidFill>
                        <a:srgbClr val="D5D9CF"/>
                      </a:solidFill>
                      <a:prstDash val="solid"/>
                    </a:lnT>
                    <a:lnB w="9525">
                      <a:solidFill>
                        <a:srgbClr val="D5D9CF"/>
                      </a:solidFill>
                      <a:prstDash val="solid"/>
                    </a:lnB>
                    <a:solidFill>
                      <a:srgbClr val="173D35"/>
                    </a:solidFill>
                  </a:tcPr>
                </a:tc>
              </a:tr>
              <a:tr h="5905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202A25"/>
                          </a:solidFill>
                          <a:latin typeface="Noto Sans"/>
                          <a:ea typeface="Noto Sans"/>
                          <a:cs typeface="Noto Sans"/>
                        </a:rPr>
                        <a:t>Правила и словари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9CF"/>
                      </a:solidFill>
                      <a:prstDash val="solid"/>
                    </a:lnL>
                    <a:lnR w="9525">
                      <a:solidFill>
                        <a:srgbClr val="D5D9CF"/>
                      </a:solidFill>
                      <a:prstDash val="solid"/>
                    </a:lnR>
                    <a:lnB w="9525">
                      <a:solidFill>
                        <a:srgbClr val="D5D9CF"/>
                      </a:solidFill>
                      <a:prstDash val="solid"/>
                    </a:lnB>
                    <a:solidFill>
                      <a:srgbClr val="F4F2E9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02A25"/>
                          </a:solidFill>
                          <a:latin typeface="Noto Sans"/>
                          <a:ea typeface="Noto Sans"/>
                          <a:cs typeface="Noto Sans"/>
                        </a:rPr>
                        <a:t>Шаблоны записи и известные значения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9CF"/>
                      </a:solidFill>
                      <a:prstDash val="solid"/>
                    </a:lnR>
                    <a:lnB w="9525">
                      <a:solidFill>
                        <a:srgbClr val="D5D9CF"/>
                      </a:solidFill>
                      <a:prstDash val="solid"/>
                    </a:lnB>
                    <a:solidFill>
                      <a:srgbClr val="F4F2E9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02A25"/>
                          </a:solidFill>
                          <a:latin typeface="Noto Sans"/>
                          <a:ea typeface="Noto Sans"/>
                          <a:cs typeface="Noto Sans"/>
                        </a:rPr>
                        <a:t>CPU, разработка и поддержка правил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9CF"/>
                      </a:solidFill>
                      <a:prstDash val="solid"/>
                    </a:lnR>
                    <a:lnB w="9525">
                      <a:solidFill>
                        <a:srgbClr val="D5D9CF"/>
                      </a:solidFill>
                      <a:prstDash val="solid"/>
                    </a:lnB>
                    <a:solidFill>
                      <a:srgbClr val="F4F2E9"/>
                    </a:solidFill>
                  </a:tcPr>
                </a:tc>
              </a:tr>
              <a:tr h="5905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202A25"/>
                          </a:solidFill>
                          <a:latin typeface="Noto Sans"/>
                          <a:ea typeface="Noto Sans"/>
                          <a:cs typeface="Noto Sans"/>
                        </a:rPr>
                        <a:t>NER на CRF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9CF"/>
                      </a:solidFill>
                      <a:prstDash val="solid"/>
                    </a:lnL>
                    <a:lnR w="9525">
                      <a:solidFill>
                        <a:srgbClr val="D5D9CF"/>
                      </a:solidFill>
                      <a:prstDash val="solid"/>
                    </a:lnR>
                    <a:lnB w="9525">
                      <a:solidFill>
                        <a:srgbClr val="D5D9CF"/>
                      </a:solidFill>
                      <a:prstDash val="solid"/>
                    </a:lnB>
                    <a:solidFill>
                      <a:srgbClr val="F4F2E9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02A25"/>
                          </a:solidFill>
                          <a:latin typeface="Noto Sans"/>
                          <a:ea typeface="Noto Sans"/>
                          <a:cs typeface="Noto Sans"/>
                        </a:rPr>
                        <a:t>Извлечение по признакам слов и контексту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9CF"/>
                      </a:solidFill>
                      <a:prstDash val="solid"/>
                    </a:lnR>
                    <a:lnB w="9525">
                      <a:solidFill>
                        <a:srgbClr val="D5D9CF"/>
                      </a:solidFill>
                      <a:prstDash val="solid"/>
                    </a:lnB>
                    <a:solidFill>
                      <a:srgbClr val="F4F2E9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02A25"/>
                          </a:solidFill>
                          <a:latin typeface="Noto Sans"/>
                          <a:ea typeface="Noto Sans"/>
                          <a:cs typeface="Noto Sans"/>
                        </a:rPr>
                        <a:t>Разметка, обучение CRF и CPU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9CF"/>
                      </a:solidFill>
                      <a:prstDash val="solid"/>
                    </a:lnR>
                    <a:lnB w="9525">
                      <a:solidFill>
                        <a:srgbClr val="D5D9CF"/>
                      </a:solidFill>
                      <a:prstDash val="solid"/>
                    </a:lnB>
                    <a:solidFill>
                      <a:srgbClr val="F4F2E9"/>
                    </a:solidFill>
                  </a:tcPr>
                </a:tc>
              </a:tr>
              <a:tr h="5905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202A25"/>
                          </a:solidFill>
                          <a:latin typeface="Noto Sans"/>
                          <a:ea typeface="Noto Sans"/>
                          <a:cs typeface="Noto Sans"/>
                        </a:rPr>
                        <a:t>Трансформер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9CF"/>
                      </a:solidFill>
                      <a:prstDash val="solid"/>
                    </a:lnL>
                    <a:lnR w="9525">
                      <a:solidFill>
                        <a:srgbClr val="D5D9CF"/>
                      </a:solidFill>
                      <a:prstDash val="solid"/>
                    </a:lnR>
                    <a:lnB w="9525">
                      <a:solidFill>
                        <a:srgbClr val="D5D9CF"/>
                      </a:solidFill>
                      <a:prstDash val="solid"/>
                    </a:lnB>
                    <a:solidFill>
                      <a:srgbClr val="F4F2E9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02A25"/>
                          </a:solidFill>
                          <a:latin typeface="Noto Sans"/>
                          <a:ea typeface="Noto Sans"/>
                          <a:cs typeface="Noto Sans"/>
                        </a:rPr>
                        <a:t>Извлечение с учётом контекста атрибута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9CF"/>
                      </a:solidFill>
                      <a:prstDash val="solid"/>
                    </a:lnR>
                    <a:lnB w="9525">
                      <a:solidFill>
                        <a:srgbClr val="D5D9CF"/>
                      </a:solidFill>
                      <a:prstDash val="solid"/>
                    </a:lnB>
                    <a:solidFill>
                      <a:srgbClr val="F4F2E9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02A25"/>
                          </a:solidFill>
                          <a:latin typeface="Noto Sans"/>
                          <a:ea typeface="Noto Sans"/>
                          <a:cs typeface="Noto Sans"/>
                        </a:rPr>
                        <a:t>Разметка, дообучение и инференс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9CF"/>
                      </a:solidFill>
                      <a:prstDash val="solid"/>
                    </a:lnR>
                    <a:lnB w="9525">
                      <a:solidFill>
                        <a:srgbClr val="D5D9CF"/>
                      </a:solidFill>
                      <a:prstDash val="solid"/>
                    </a:lnB>
                    <a:solidFill>
                      <a:srgbClr val="F4F2E9"/>
                    </a:solidFill>
                  </a:tcPr>
                </a:tc>
              </a:tr>
              <a:tr h="5905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202A25"/>
                          </a:solidFill>
                          <a:latin typeface="Noto Sans"/>
                          <a:ea typeface="Noto Sans"/>
                          <a:cs typeface="Noto Sans"/>
                        </a:rPr>
                        <a:t>LLM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9CF"/>
                      </a:solidFill>
                      <a:prstDash val="solid"/>
                    </a:lnL>
                    <a:lnR w="9525">
                      <a:solidFill>
                        <a:srgbClr val="D5D9CF"/>
                      </a:solidFill>
                      <a:prstDash val="solid"/>
                    </a:lnR>
                    <a:lnB w="9525">
                      <a:solidFill>
                        <a:srgbClr val="D5D9CF"/>
                      </a:solidFill>
                      <a:prstDash val="solid"/>
                    </a:lnB>
                    <a:solidFill>
                      <a:srgbClr val="F4F2E9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02A25"/>
                          </a:solidFill>
                          <a:latin typeface="Noto Sans"/>
                          <a:ea typeface="Noto Sans"/>
                          <a:cs typeface="Noto Sans"/>
                        </a:rPr>
                        <a:t>Извлечение по инструкции и примерам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9CF"/>
                      </a:solidFill>
                      <a:prstDash val="solid"/>
                    </a:lnR>
                    <a:lnB w="9525">
                      <a:solidFill>
                        <a:srgbClr val="D5D9CF"/>
                      </a:solidFill>
                      <a:prstDash val="solid"/>
                    </a:lnB>
                    <a:solidFill>
                      <a:srgbClr val="F4F2E9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02A25"/>
                          </a:solidFill>
                          <a:latin typeface="Noto Sans"/>
                          <a:ea typeface="Noto Sans"/>
                          <a:cs typeface="Noto Sans"/>
                        </a:rPr>
                        <a:t>API-токены или локальные вычисления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9CF"/>
                      </a:solidFill>
                      <a:prstDash val="solid"/>
                    </a:lnR>
                    <a:lnB w="9525">
                      <a:solidFill>
                        <a:srgbClr val="D5D9CF"/>
                      </a:solidFill>
                      <a:prstDash val="solid"/>
                    </a:lnB>
                    <a:solidFill>
                      <a:srgbClr val="F4F2E9"/>
                    </a:solidFill>
                  </a:tcPr>
                </a:tc>
              </a:tr>
            </a:tbl>
          </a:graphicData>
        </a:graphic>
      </p:graphicFrame>
      <p:sp>
        <p:nvSpPr>
          <p:cNvPr id="7" name="Выберем метод или гибрид с минимальной пол">
            <a:extLst xmlns:a="http://schemas.openxmlformats.org/drawingml/2006/main">
              <a:ext uri="{FF2B5EF4-FFF2-40B4-BE49-F238E27FC236}">
                <a16:creationId xmlns:a16="http://schemas.microsoft.com/office/drawing/2014/main" id="{1B3B2A0F-14D8-4BDB-90C5-CA490F15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73D35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73D35"/>
                </a:solidFill>
                <a:latin typeface="Noto Sans"/>
                <a:ea typeface="Noto Sans"/>
                <a:cs typeface="Noto Sans"/>
              </a:defRPr>
            </a:pPr>
            <a:r>
              <a:rPr sz="2025" b="1">
                <a:solidFill>
                  <a:srgbClr val="173D35"/>
                </a:solidFill>
                <a:latin typeface="Noto Sans"/>
                <a:ea typeface="Noto Sans"/>
                <a:cs typeface="Noto Sans"/>
              </a:rPr>
              <a:t>Выберем метод или гибрид с минимальной полной стоимостью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73D35"/>
                </a:solidFill>
                <a:latin typeface="Noto Sans"/>
                <a:ea typeface="Noto Sans"/>
                <a:cs typeface="Noto Sans"/>
              </a:defRPr>
            </a:pPr>
            <a:r>
              <a:rPr sz="2025" b="1">
                <a:solidFill>
                  <a:srgbClr val="173D35"/>
                </a:solidFill>
                <a:latin typeface="Noto Sans"/>
                <a:ea typeface="Noto Sans"/>
                <a:cs typeface="Noto Sans"/>
              </a:rPr>
              <a:t>среди вариантов, которые проходят требования к качеству.</a:t>
            </a:r>
          </a:p>
        </p:txBody>
      </p:sp>
      <p:sp>
        <p:nvSpPr>
          <p:cNvPr id="8" name="Отдельные оценки: трансформер silver span ">
            <a:extLst xmlns:a="http://schemas.openxmlformats.org/drawingml/2006/main">
              <a:ext uri="{FF2B5EF4-FFF2-40B4-BE49-F238E27FC236}">
                <a16:creationId xmlns:a16="http://schemas.microsoft.com/office/drawing/2014/main" id="{6C77DDE8-80D8-41BE-956B-3B19BC73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293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86454"/>
                </a:solidFill>
                <a:latin typeface="Noto Sans"/>
                <a:ea typeface="Noto Sans"/>
                <a:cs typeface="Noto Sans"/>
              </a:rPr>
              <a:t>Отдельные оценки: трансформер silver span F1 около 0,917, правила с БЗ micro F1 около 0,925.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86454"/>
                </a:solidFill>
                <a:latin typeface="Noto Sans"/>
                <a:ea typeface="Noto Sans"/>
                <a:cs typeface="Noto Sans"/>
              </a:rPr>
              <a:t>Протоколы различаются, общего победителя пока нет. LLM в разработке.</a:t>
            </a:r>
          </a:p>
        </p:txBody>
      </p:sp>
    </p:spTree>
    <p:extLst>
      <p:ext uri="{BB962C8B-B14F-4D97-AF65-F5344CB8AC3E}">
        <p14:creationId xmlns:p14="http://schemas.microsoft.com/office/powerpoint/2010/main" val="7145925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Вопрос 3. Основной сценарий решения">
            <a:extLst xmlns:a="http://schemas.openxmlformats.org/drawingml/2006/main">
              <a:ext uri="{FF2B5EF4-FFF2-40B4-BE49-F238E27FC236}">
                <a16:creationId xmlns:a16="http://schemas.microsoft.com/office/drawing/2014/main" id="{B8C3A379-EFFD-41A9-BFCB-3D31D61E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586454"/>
                </a:solidFill>
                <a:latin typeface="Noto Sans"/>
                <a:ea typeface="Noto Sans"/>
                <a:cs typeface="Noto Sans"/>
              </a:rPr>
              <a:t>Вопрос 3. Основной сценарий решения</a:t>
            </a:r>
          </a:p>
        </p:txBody>
      </p:sp>
      <p:sp>
        <p:nvSpPr>
          <p:cNvPr id="2" name="05 / 10">
            <a:extLst xmlns:a="http://schemas.openxmlformats.org/drawingml/2006/main">
              <a:ext uri="{FF2B5EF4-FFF2-40B4-BE49-F238E27FC236}">
                <a16:creationId xmlns:a16="http://schemas.microsoft.com/office/drawing/2014/main" id="{7A9795FD-1E40-41F1-B8DE-C7F9400E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95275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125" b="0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586454"/>
                </a:solidFill>
                <a:latin typeface="Noto Sans"/>
                <a:ea typeface="Noto Sans"/>
                <a:cs typeface="Noto Sans"/>
              </a:rPr>
              <a:t>05 / 10</a:t>
            </a:r>
          </a:p>
        </p:txBody>
      </p:sp>
      <p:sp>
        <p:nvSpPr>
          <p:cNvPr id="3" name="3. Каталог и очередь проверки">
            <a:extLst xmlns:a="http://schemas.openxmlformats.org/drawingml/2006/main">
              <a:ext uri="{FF2B5EF4-FFF2-40B4-BE49-F238E27FC236}">
                <a16:creationId xmlns:a16="http://schemas.microsoft.com/office/drawing/2014/main" id="{B6A2F307-DF6E-4117-AE97-B2376457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300" b="1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202A25"/>
                </a:solidFill>
                <a:latin typeface="Noto Sans"/>
                <a:ea typeface="Noto Sans"/>
                <a:cs typeface="Noto Sans"/>
              </a:rPr>
              <a:t>3. Каталог и очередь проверки</a:t>
            </a:r>
          </a:p>
        </p:txBody>
      </p:sp>
      <p:sp>
        <p:nvSpPr>
          <p:cNvPr id="4" name="АТЛАС">
            <a:extLst xmlns:a="http://schemas.openxmlformats.org/drawingml/2006/main">
              <a:ext uri="{FF2B5EF4-FFF2-40B4-BE49-F238E27FC236}">
                <a16:creationId xmlns:a16="http://schemas.microsoft.com/office/drawing/2014/main" id="{C203A82F-730D-4086-A1C6-8A8758C0D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586454"/>
                </a:solidFill>
                <a:latin typeface="Noto Sans"/>
                <a:ea typeface="Noto Sans"/>
                <a:cs typeface="Noto Sans"/>
              </a:rPr>
              <a:t>АТЛАС</a:t>
            </a:r>
          </a:p>
        </p:txBody>
      </p:sp>
      <p:sp>
        <p:nvSpPr>
          <p:cNvPr id="5" name="Понятный следующий шаг">
            <a:extLst xmlns:a="http://schemas.openxmlformats.org/drawingml/2006/main">
              <a:ext uri="{FF2B5EF4-FFF2-40B4-BE49-F238E27FC236}">
                <a16:creationId xmlns:a16="http://schemas.microsoft.com/office/drawing/2014/main" id="{63A08026-080B-43B6-9EFD-6DF0B095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2857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202A25"/>
                </a:solidFill>
                <a:latin typeface="Noto Sans"/>
                <a:ea typeface="Noto Sans"/>
                <a:cs typeface="Noto Sans"/>
              </a:rPr>
              <a:t>Понятный следующий шаг</a:t>
            </a:r>
          </a:p>
        </p:txBody>
      </p:sp>
      <p:sp>
        <p:nvSpPr>
          <p:cNvPr id="6" name="Поиск по товару,&#10;бренду или SKU.&#10;Фильтры п">
            <a:extLst xmlns:a="http://schemas.openxmlformats.org/drawingml/2006/main">
              <a:ext uri="{FF2B5EF4-FFF2-40B4-BE49-F238E27FC236}">
                <a16:creationId xmlns:a16="http://schemas.microsoft.com/office/drawing/2014/main" id="{716AA0A7-FAAA-4FEA-807D-AD9E0247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202A25"/>
                </a:solidFill>
                <a:latin typeface="Noto Sans"/>
                <a:ea typeface="Noto Sans"/>
                <a:cs typeface="Noto Sans"/>
              </a:rPr>
              <a:t>Поиск по товару,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202A25"/>
                </a:solidFill>
                <a:latin typeface="Noto Sans"/>
                <a:ea typeface="Noto Sans"/>
                <a:cs typeface="Noto Sans"/>
              </a:rPr>
              <a:t>бренду или SKU.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202A25"/>
                </a:solidFill>
                <a:latin typeface="Noto Sans"/>
                <a:ea typeface="Noto Sans"/>
                <a:cs typeface="Noto Sans"/>
              </a:rPr>
              <a:t>Фильтры по категории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202A25"/>
                </a:solidFill>
                <a:latin typeface="Noto Sans"/>
                <a:ea typeface="Noto Sans"/>
                <a:cs typeface="Noto Sans"/>
              </a:rPr>
              <a:t>и состоянию карточки.</a:t>
            </a:r>
          </a:p>
        </p:txBody>
      </p:sp>
      <p:sp>
        <p:nvSpPr>
          <p:cNvPr id="7" name="Сначала конфликты&#10;и спорные значения.&#10;Новы">
            <a:extLst xmlns:a="http://schemas.openxmlformats.org/drawingml/2006/main">
              <a:ext uri="{FF2B5EF4-FFF2-40B4-BE49-F238E27FC236}">
                <a16:creationId xmlns:a16="http://schemas.microsoft.com/office/drawing/2014/main" id="{39C50C5F-3A1F-480E-AF2A-E2C6DD1D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202A25"/>
                </a:solidFill>
                <a:latin typeface="Noto Sans"/>
                <a:ea typeface="Noto Sans"/>
                <a:cs typeface="Noto Sans"/>
              </a:rPr>
              <a:t>Сначала конфликты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202A25"/>
                </a:solidFill>
                <a:latin typeface="Noto Sans"/>
                <a:ea typeface="Noto Sans"/>
                <a:cs typeface="Noto Sans"/>
              </a:rPr>
              <a:t>и спорные значения.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202A25"/>
                </a:solidFill>
                <a:latin typeface="Noto Sans"/>
                <a:ea typeface="Noto Sans"/>
                <a:cs typeface="Noto Sans"/>
              </a:rPr>
              <a:t>Новые товары можно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202A25"/>
                </a:solidFill>
                <a:latin typeface="Noto Sans"/>
                <a:ea typeface="Noto Sans"/>
                <a:cs typeface="Noto Sans"/>
              </a:rPr>
              <a:t>обрабатывать массово.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567808-A4F8-4461-A563-37F9AEB257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2d97aa4f334b11"/>
          <a:srcRect xmlns:a="http://schemas.openxmlformats.org/drawingml/2006/main" l="1344" t="10253" r="1818" b="1966"/>
          <a:stretch xmlns:a="http://schemas.openxmlformats.org/drawingml/2006/main"/>
        </p:blipFill>
        <p:spPr>
          <a:xfrm xmlns:a="http://schemas.openxmlformats.org/drawingml/2006/main">
            <a:off x="3676650" y="1762125"/>
            <a:ext cx="7905750" cy="4033546"/>
          </a:xfrm>
          <a:prstGeom xmlns:a="http://schemas.openxmlformats.org/drawingml/2006/main" prst="rect">
            <a:avLst/>
          </a:prstGeom>
        </p:spPr>
      </p:pic>
      <p:sp>
        <p:nvSpPr>
          <p:cNvPr id="9" name="Показатели на экране иллюстрируют механику">
            <a:extLst xmlns:a="http://schemas.openxmlformats.org/drawingml/2006/main">
              <a:ext uri="{FF2B5EF4-FFF2-40B4-BE49-F238E27FC236}">
                <a16:creationId xmlns:a16="http://schemas.microsoft.com/office/drawing/2014/main" id="{22A86100-ED08-4F0E-A08F-712FC33C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938546"/>
            <a:ext cx="790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586454"/>
                </a:solidFill>
                <a:latin typeface="Noto Sans"/>
                <a:ea typeface="Noto Sans"/>
                <a:cs typeface="Noto Sans"/>
              </a:rPr>
              <a:t>Показатели на экране иллюстрируют механику интерфейса.</a:t>
            </a:r>
          </a:p>
        </p:txBody>
      </p:sp>
    </p:spTree>
    <p:extLst>
      <p:ext uri="{BB962C8B-B14F-4D97-AF65-F5344CB8AC3E}">
        <p14:creationId xmlns:p14="http://schemas.microsoft.com/office/powerpoint/2010/main" val="4272484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Вопрос 3. Основной сценарий решения">
            <a:extLst xmlns:a="http://schemas.openxmlformats.org/drawingml/2006/main">
              <a:ext uri="{FF2B5EF4-FFF2-40B4-BE49-F238E27FC236}">
                <a16:creationId xmlns:a16="http://schemas.microsoft.com/office/drawing/2014/main" id="{4CA7F986-53D0-46C4-83D5-73620D09E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586454"/>
                </a:solidFill>
                <a:latin typeface="Noto Sans"/>
                <a:ea typeface="Noto Sans"/>
                <a:cs typeface="Noto Sans"/>
              </a:rPr>
              <a:t>Вопрос 3. Основной сценарий решения</a:t>
            </a:r>
          </a:p>
        </p:txBody>
      </p:sp>
      <p:sp>
        <p:nvSpPr>
          <p:cNvPr id="2" name="06 / 10">
            <a:extLst xmlns:a="http://schemas.openxmlformats.org/drawingml/2006/main">
              <a:ext uri="{FF2B5EF4-FFF2-40B4-BE49-F238E27FC236}">
                <a16:creationId xmlns:a16="http://schemas.microsoft.com/office/drawing/2014/main" id="{D551DBEC-5CD3-4B3F-92F9-5C01C5BC9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95275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125" b="0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586454"/>
                </a:solidFill>
                <a:latin typeface="Noto Sans"/>
                <a:ea typeface="Noto Sans"/>
                <a:cs typeface="Noto Sans"/>
              </a:rPr>
              <a:t>06 / 10</a:t>
            </a:r>
          </a:p>
        </p:txBody>
      </p:sp>
      <p:sp>
        <p:nvSpPr>
          <p:cNvPr id="3" name="4. Решение по цитате">
            <a:extLst xmlns:a="http://schemas.openxmlformats.org/drawingml/2006/main">
              <a:ext uri="{FF2B5EF4-FFF2-40B4-BE49-F238E27FC236}">
                <a16:creationId xmlns:a16="http://schemas.microsoft.com/office/drawing/2014/main" id="{57567632-CFEC-4977-AFFB-D3D002942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300" b="1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202A25"/>
                </a:solidFill>
                <a:latin typeface="Noto Sans"/>
                <a:ea typeface="Noto Sans"/>
                <a:cs typeface="Noto Sans"/>
              </a:rPr>
              <a:t>4. Решение по цитате</a:t>
            </a:r>
          </a:p>
        </p:txBody>
      </p:sp>
      <p:sp>
        <p:nvSpPr>
          <p:cNvPr id="4" name="АТЛАС">
            <a:extLst xmlns:a="http://schemas.openxmlformats.org/drawingml/2006/main">
              <a:ext uri="{FF2B5EF4-FFF2-40B4-BE49-F238E27FC236}">
                <a16:creationId xmlns:a16="http://schemas.microsoft.com/office/drawing/2014/main" id="{E01D0D1C-3BBB-44BE-9B9F-6AAE1BC8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586454"/>
                </a:solidFill>
                <a:latin typeface="Noto Sans"/>
                <a:ea typeface="Noto Sans"/>
                <a:cs typeface="Noto Sans"/>
              </a:rPr>
              <a:t>АТЛАС</a:t>
            </a:r>
          </a:p>
        </p:txBody>
      </p:sp>
      <p:sp>
        <p:nvSpPr>
          <p:cNvPr id="5" name="В описании">
            <a:extLst xmlns:a="http://schemas.openxmlformats.org/drawingml/2006/main">
              <a:ext uri="{FF2B5EF4-FFF2-40B4-BE49-F238E27FC236}">
                <a16:creationId xmlns:a16="http://schemas.microsoft.com/office/drawing/2014/main" id="{5E445B75-C4CF-450C-BA9E-FEF6557B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586454"/>
                </a:solidFill>
                <a:latin typeface="Noto Sans"/>
                <a:ea typeface="Noto Sans"/>
                <a:cs typeface="Noto Sans"/>
              </a:rPr>
              <a:t>В описании</a:t>
            </a:r>
          </a:p>
        </p:txBody>
      </p:sp>
      <p:sp>
        <p:nvSpPr>
          <p:cNvPr id="6" name="4 ГБ RAM">
            <a:extLst xmlns:a="http://schemas.openxmlformats.org/drawingml/2006/main">
              <a:ext uri="{FF2B5EF4-FFF2-40B4-BE49-F238E27FC236}">
                <a16:creationId xmlns:a16="http://schemas.microsoft.com/office/drawing/2014/main" id="{82A94314-066F-4527-8828-082184C6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5238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173D35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900" b="1">
                <a:solidFill>
                  <a:srgbClr val="173D35"/>
                </a:solidFill>
                <a:latin typeface="Noto Sans"/>
                <a:ea typeface="Noto Sans"/>
                <a:cs typeface="Noto Sans"/>
              </a:defRPr>
            </a:pPr>
            <a:r>
              <a:rPr sz="3900" b="1">
                <a:solidFill>
                  <a:srgbClr val="173D35"/>
                </a:solidFill>
                <a:latin typeface="Noto Sans"/>
                <a:ea typeface="Noto Sans"/>
                <a:cs typeface="Noto Sans"/>
              </a:rPr>
              <a:t>4 ГБ RAM</a:t>
            </a:r>
          </a:p>
        </p:txBody>
      </p:sp>
      <p:sp>
        <p:nvSpPr>
          <p:cNvPr id="7" name="В параметрах продавца">
            <a:extLst xmlns:a="http://schemas.openxmlformats.org/drawingml/2006/main">
              <a:ext uri="{FF2B5EF4-FFF2-40B4-BE49-F238E27FC236}">
                <a16:creationId xmlns:a16="http://schemas.microsoft.com/office/drawing/2014/main" id="{4D725FD6-C09C-492E-8380-EC2AF577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523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586454"/>
                </a:solidFill>
                <a:latin typeface="Noto Sans"/>
                <a:ea typeface="Noto Sans"/>
                <a:cs typeface="Noto Sans"/>
              </a:rPr>
              <a:t>В параметрах продавца</a:t>
            </a:r>
          </a:p>
        </p:txBody>
      </p:sp>
      <p:sp>
        <p:nvSpPr>
          <p:cNvPr id="8" name="5 ГБ RAM">
            <a:extLst xmlns:a="http://schemas.openxmlformats.org/drawingml/2006/main">
              <a:ext uri="{FF2B5EF4-FFF2-40B4-BE49-F238E27FC236}">
                <a16:creationId xmlns:a16="http://schemas.microsoft.com/office/drawing/2014/main" id="{110755EB-9E9B-4ABD-B7FC-CF778120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5238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5B17B8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900" b="1">
                <a:solidFill>
                  <a:srgbClr val="5B17B8"/>
                </a:solidFill>
                <a:latin typeface="Noto Sans"/>
                <a:ea typeface="Noto Sans"/>
                <a:cs typeface="Noto Sans"/>
              </a:defRPr>
            </a:pPr>
            <a:r>
              <a:rPr sz="3900" b="1">
                <a:solidFill>
                  <a:srgbClr val="5B17B8"/>
                </a:solidFill>
                <a:latin typeface="Noto Sans"/>
                <a:ea typeface="Noto Sans"/>
                <a:cs typeface="Noto Sans"/>
              </a:rPr>
              <a:t>5 ГБ RAM</a:t>
            </a:r>
          </a:p>
        </p:txBody>
      </p:sp>
      <p:sp>
        <p:nvSpPr>
          <p:cNvPr id="9" name="Система показывает расхождение&#10;и оба основ">
            <a:extLst xmlns:a="http://schemas.openxmlformats.org/drawingml/2006/main">
              <a:ext uri="{FF2B5EF4-FFF2-40B4-BE49-F238E27FC236}">
                <a16:creationId xmlns:a16="http://schemas.microsoft.com/office/drawing/2014/main" id="{5EDEC897-C0C3-4325-B746-CF4628E62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0575"/>
            <a:ext cx="5619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202A25"/>
                </a:solidFill>
                <a:latin typeface="Noto Sans"/>
                <a:ea typeface="Noto Sans"/>
                <a:cs typeface="Noto Sans"/>
              </a:rPr>
              <a:t>Система показывает расхождение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202A25"/>
                </a:solidFill>
                <a:latin typeface="Noto Sans"/>
                <a:ea typeface="Noto Sans"/>
                <a:cs typeface="Noto Sans"/>
              </a:rPr>
              <a:t>и оба основания. Сотрудник сверяет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202A25"/>
                </a:solidFill>
                <a:latin typeface="Noto Sans"/>
                <a:ea typeface="Noto Sans"/>
                <a:cs typeface="Noto Sans"/>
              </a:rPr>
              <a:t>источники, затем принимает значение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202A25"/>
                </a:solidFill>
                <a:latin typeface="Noto Sans"/>
                <a:ea typeface="Noto Sans"/>
                <a:cs typeface="Noto Sans"/>
              </a:rPr>
              <a:t>или вносит исправление.</a:t>
            </a:r>
          </a:p>
        </p:txBody>
      </p:sp>
      <p:sp>
        <p:nvSpPr>
          <p:cNvPr id="10" name="Отклонить кандидата и подтвердить отсутств">
            <a:extLst xmlns:a="http://schemas.openxmlformats.org/drawingml/2006/main">
              <a:ext uri="{FF2B5EF4-FFF2-40B4-BE49-F238E27FC236}">
                <a16:creationId xmlns:a16="http://schemas.microsoft.com/office/drawing/2014/main" id="{9FF93818-242B-4355-9E53-FF9DE129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561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586454"/>
                </a:solidFill>
                <a:latin typeface="Noto Sans"/>
                <a:ea typeface="Noto Sans"/>
                <a:cs typeface="Noto Sans"/>
              </a:rPr>
              <a:t>Отклонить кандидата и подтвердить отсутствие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586454"/>
                </a:solidFill>
                <a:latin typeface="Noto Sans"/>
                <a:ea typeface="Noto Sans"/>
                <a:cs typeface="Noto Sans"/>
              </a:rPr>
              <a:t>характеристики в тексте можно отдельно.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0DA200-8A15-4B4A-A36A-F7CBFB245F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b335c3c8f94246"/>
          <a:srcRect xmlns:a="http://schemas.openxmlformats.org/drawingml/2006/main" l="43874" t="41445" r="1739" b="4794"/>
          <a:stretch xmlns:a="http://schemas.openxmlformats.org/drawingml/2006/main"/>
        </p:blipFill>
        <p:spPr>
          <a:xfrm xmlns:a="http://schemas.openxmlformats.org/drawingml/2006/main">
            <a:off x="6915150" y="1466850"/>
            <a:ext cx="4667250" cy="494538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612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Вопрос 3. Основной сценарий решения">
            <a:extLst xmlns:a="http://schemas.openxmlformats.org/drawingml/2006/main">
              <a:ext uri="{FF2B5EF4-FFF2-40B4-BE49-F238E27FC236}">
                <a16:creationId xmlns:a16="http://schemas.microsoft.com/office/drawing/2014/main" id="{5840274A-E60A-40EF-814B-725872ECD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586454"/>
                </a:solidFill>
                <a:latin typeface="Noto Sans"/>
                <a:ea typeface="Noto Sans"/>
                <a:cs typeface="Noto Sans"/>
              </a:rPr>
              <a:t>Вопрос 3. Основной сценарий решения</a:t>
            </a:r>
          </a:p>
        </p:txBody>
      </p:sp>
      <p:sp>
        <p:nvSpPr>
          <p:cNvPr id="2" name="07 / 10">
            <a:extLst xmlns:a="http://schemas.openxmlformats.org/drawingml/2006/main">
              <a:ext uri="{FF2B5EF4-FFF2-40B4-BE49-F238E27FC236}">
                <a16:creationId xmlns:a16="http://schemas.microsoft.com/office/drawing/2014/main" id="{CD8FE65F-2ABD-4662-AAD1-2711F9E23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95275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125" b="0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586454"/>
                </a:solidFill>
                <a:latin typeface="Noto Sans"/>
                <a:ea typeface="Noto Sans"/>
                <a:cs typeface="Noto Sans"/>
              </a:rPr>
              <a:t>07 / 10</a:t>
            </a:r>
          </a:p>
        </p:txBody>
      </p:sp>
      <p:sp>
        <p:nvSpPr>
          <p:cNvPr id="3" name="5. Нормализация значений">
            <a:extLst xmlns:a="http://schemas.openxmlformats.org/drawingml/2006/main">
              <a:ext uri="{FF2B5EF4-FFF2-40B4-BE49-F238E27FC236}">
                <a16:creationId xmlns:a16="http://schemas.microsoft.com/office/drawing/2014/main" id="{CF1F5581-F199-4589-9B5F-20485317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300" b="1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202A25"/>
                </a:solidFill>
                <a:latin typeface="Noto Sans"/>
                <a:ea typeface="Noto Sans"/>
                <a:cs typeface="Noto Sans"/>
              </a:rPr>
              <a:t>5. Нормализация значений</a:t>
            </a:r>
          </a:p>
        </p:txBody>
      </p:sp>
      <p:sp>
        <p:nvSpPr>
          <p:cNvPr id="4" name="АТЛАС">
            <a:extLst xmlns:a="http://schemas.openxmlformats.org/drawingml/2006/main">
              <a:ext uri="{FF2B5EF4-FFF2-40B4-BE49-F238E27FC236}">
                <a16:creationId xmlns:a16="http://schemas.microsoft.com/office/drawing/2014/main" id="{8F368D91-43EB-4A0D-8888-21E6B761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586454"/>
                </a:solidFill>
                <a:latin typeface="Noto Sans"/>
                <a:ea typeface="Noto Sans"/>
                <a:cs typeface="Noto Sans"/>
              </a:rPr>
              <a:t>АТЛАС</a:t>
            </a:r>
          </a:p>
        </p:txBody>
      </p:sp>
      <p:sp>
        <p:nvSpPr>
          <p:cNvPr id="5" name="Одна единица каталога">
            <a:extLst xmlns:a="http://schemas.openxmlformats.org/drawingml/2006/main">
              <a:ext uri="{FF2B5EF4-FFF2-40B4-BE49-F238E27FC236}">
                <a16:creationId xmlns:a16="http://schemas.microsoft.com/office/drawing/2014/main" id="{64C8DA8A-0091-4FDD-8067-51FFC18C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76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202A25"/>
                </a:solidFill>
                <a:latin typeface="Noto Sans"/>
                <a:ea typeface="Noto Sans"/>
                <a:cs typeface="Noto Sans"/>
              </a:rPr>
              <a:t>Одна единица каталога</a:t>
            </a:r>
          </a:p>
        </p:txBody>
      </p:sp>
      <p:sp>
        <p:nvSpPr>
          <p:cNvPr id="6" name="«2,2 кВт»&#10;2200 Вт">
            <a:extLst xmlns:a="http://schemas.openxmlformats.org/drawingml/2006/main">
              <a:ext uri="{FF2B5EF4-FFF2-40B4-BE49-F238E27FC236}">
                <a16:creationId xmlns:a16="http://schemas.microsoft.com/office/drawing/2014/main" id="{D45FDB70-5CA3-49EF-90BB-AF09740C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2857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173D35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775" b="1">
                <a:solidFill>
                  <a:srgbClr val="173D35"/>
                </a:solidFill>
                <a:latin typeface="Noto Sans"/>
                <a:ea typeface="Noto Sans"/>
                <a:cs typeface="Noto Sans"/>
              </a:defRPr>
            </a:pPr>
            <a:r>
              <a:rPr sz="2775" b="1">
                <a:solidFill>
                  <a:srgbClr val="173D35"/>
                </a:solidFill>
                <a:latin typeface="Noto Sans"/>
                <a:ea typeface="Noto Sans"/>
                <a:cs typeface="Noto Sans"/>
              </a:rPr>
              <a:t>«2,2 кВт»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775" b="1">
                <a:solidFill>
                  <a:srgbClr val="173D35"/>
                </a:solidFill>
                <a:latin typeface="Noto Sans"/>
                <a:ea typeface="Noto Sans"/>
                <a:cs typeface="Noto Sans"/>
              </a:defRPr>
            </a:pPr>
            <a:r>
              <a:rPr sz="2775" b="1">
                <a:solidFill>
                  <a:srgbClr val="173D35"/>
                </a:solidFill>
                <a:latin typeface="Noto Sans"/>
                <a:ea typeface="Noto Sans"/>
                <a:cs typeface="Noto Sans"/>
              </a:rPr>
              <a:t>2200 Вт</a:t>
            </a:r>
          </a:p>
        </p:txBody>
      </p:sp>
      <p:sp>
        <p:nvSpPr>
          <p:cNvPr id="7" name="Словари объединяют&#10;варианты написания&#10;цвет">
            <a:extLst xmlns:a="http://schemas.openxmlformats.org/drawingml/2006/main">
              <a:ext uri="{FF2B5EF4-FFF2-40B4-BE49-F238E27FC236}">
                <a16:creationId xmlns:a16="http://schemas.microsoft.com/office/drawing/2014/main" id="{A95D7643-8085-4912-B1D9-21061D6D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2762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202A25"/>
                </a:solidFill>
                <a:latin typeface="Noto Sans"/>
                <a:ea typeface="Noto Sans"/>
                <a:cs typeface="Noto Sans"/>
              </a:rPr>
              <a:t>Словари объединяют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202A25"/>
                </a:solidFill>
                <a:latin typeface="Noto Sans"/>
                <a:ea typeface="Noto Sans"/>
                <a:cs typeface="Noto Sans"/>
              </a:rPr>
              <a:t>варианты написания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202A25"/>
                </a:solidFill>
                <a:latin typeface="Noto Sans"/>
                <a:ea typeface="Noto Sans"/>
                <a:cs typeface="Noto Sans"/>
              </a:rPr>
              <a:t>цветов, брендов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202A25"/>
                </a:solidFill>
                <a:latin typeface="Noto Sans"/>
                <a:ea typeface="Noto Sans"/>
                <a:cs typeface="Noto Sans"/>
              </a:rPr>
              <a:t>и материалов.</a:t>
            </a:r>
          </a:p>
        </p:txBody>
      </p:sp>
      <p:sp>
        <p:nvSpPr>
          <p:cNvPr id="8" name="Правило можно проверить&#10;на тексте перед пр">
            <a:extLst xmlns:a="http://schemas.openxmlformats.org/drawingml/2006/main">
              <a:ext uri="{FF2B5EF4-FFF2-40B4-BE49-F238E27FC236}">
                <a16:creationId xmlns:a16="http://schemas.microsoft.com/office/drawing/2014/main" id="{CE2636A4-B690-49A7-8A01-D89DB9D5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586454"/>
                </a:solidFill>
                <a:latin typeface="Noto Sans"/>
                <a:ea typeface="Noto Sans"/>
                <a:cs typeface="Noto Sans"/>
              </a:rPr>
              <a:t>Правило можно проверить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586454"/>
                </a:solidFill>
                <a:latin typeface="Noto Sans"/>
                <a:ea typeface="Noto Sans"/>
                <a:cs typeface="Noto Sans"/>
              </a:rPr>
              <a:t>на тексте перед применением.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FC7572-D1C2-49DF-A198-F0DE56F820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a1923054934482"/>
          <a:srcRect xmlns:a="http://schemas.openxmlformats.org/drawingml/2006/main" l="1265" t="10253" r="2609" b="1966"/>
          <a:stretch xmlns:a="http://schemas.openxmlformats.org/drawingml/2006/main"/>
        </p:blipFill>
        <p:spPr>
          <a:xfrm xmlns:a="http://schemas.openxmlformats.org/drawingml/2006/main">
            <a:off x="3629025" y="1724025"/>
            <a:ext cx="7953375" cy="4087878"/>
          </a:xfrm>
          <a:prstGeom xmlns:a="http://schemas.openxmlformats.org/drawingml/2006/main" prst="rect">
            <a:avLst/>
          </a:prstGeom>
        </p:spPr>
      </p:pic>
      <p:sp>
        <p:nvSpPr>
          <p:cNvPr id="10" name="Словарь единиц и проверка преобразования н">
            <a:extLst xmlns:a="http://schemas.openxmlformats.org/drawingml/2006/main">
              <a:ext uri="{FF2B5EF4-FFF2-40B4-BE49-F238E27FC236}">
                <a16:creationId xmlns:a16="http://schemas.microsoft.com/office/drawing/2014/main" id="{7B9BA75C-D92C-48A7-B72F-C9CBC5DDA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5964303"/>
            <a:ext cx="795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586454"/>
                </a:solidFill>
                <a:latin typeface="Noto Sans"/>
                <a:ea typeface="Noto Sans"/>
                <a:cs typeface="Noto Sans"/>
              </a:rPr>
              <a:t>Словарь единиц и проверка преобразования на примере.</a:t>
            </a:r>
          </a:p>
        </p:txBody>
      </p:sp>
    </p:spTree>
    <p:extLst>
      <p:ext uri="{BB962C8B-B14F-4D97-AF65-F5344CB8AC3E}">
        <p14:creationId xmlns:p14="http://schemas.microsoft.com/office/powerpoint/2010/main" val="3613665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Вопрос 3. Основной сценарий решения">
            <a:extLst xmlns:a="http://schemas.openxmlformats.org/drawingml/2006/main">
              <a:ext uri="{FF2B5EF4-FFF2-40B4-BE49-F238E27FC236}">
                <a16:creationId xmlns:a16="http://schemas.microsoft.com/office/drawing/2014/main" id="{C9F03AF1-8A36-490E-93C7-21E0DB1D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586454"/>
                </a:solidFill>
                <a:latin typeface="Noto Sans"/>
                <a:ea typeface="Noto Sans"/>
                <a:cs typeface="Noto Sans"/>
              </a:rPr>
              <a:t>Вопрос 3. Основной сценарий решения</a:t>
            </a:r>
          </a:p>
        </p:txBody>
      </p:sp>
      <p:sp>
        <p:nvSpPr>
          <p:cNvPr id="2" name="08 / 10">
            <a:extLst xmlns:a="http://schemas.openxmlformats.org/drawingml/2006/main">
              <a:ext uri="{FF2B5EF4-FFF2-40B4-BE49-F238E27FC236}">
                <a16:creationId xmlns:a16="http://schemas.microsoft.com/office/drawing/2014/main" id="{0D18A608-96CE-47D0-A8C4-BE5AF5FD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95275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125" b="0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586454"/>
                </a:solidFill>
                <a:latin typeface="Noto Sans"/>
                <a:ea typeface="Noto Sans"/>
                <a:cs typeface="Noto Sans"/>
              </a:rPr>
              <a:t>08 / 10</a:t>
            </a:r>
          </a:p>
        </p:txBody>
      </p:sp>
      <p:sp>
        <p:nvSpPr>
          <p:cNvPr id="3" name="6. Выгрузка и контроль">
            <a:extLst xmlns:a="http://schemas.openxmlformats.org/drawingml/2006/main">
              <a:ext uri="{FF2B5EF4-FFF2-40B4-BE49-F238E27FC236}">
                <a16:creationId xmlns:a16="http://schemas.microsoft.com/office/drawing/2014/main" id="{71F89368-24C8-4601-BBF6-C74233F0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300" b="1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202A25"/>
                </a:solidFill>
                <a:latin typeface="Noto Sans"/>
                <a:ea typeface="Noto Sans"/>
                <a:cs typeface="Noto Sans"/>
              </a:rPr>
              <a:t>6. Выгрузка и контроль</a:t>
            </a:r>
          </a:p>
        </p:txBody>
      </p:sp>
      <p:sp>
        <p:nvSpPr>
          <p:cNvPr id="4" name="АТЛАС">
            <a:extLst xmlns:a="http://schemas.openxmlformats.org/drawingml/2006/main">
              <a:ext uri="{FF2B5EF4-FFF2-40B4-BE49-F238E27FC236}">
                <a16:creationId xmlns:a16="http://schemas.microsoft.com/office/drawing/2014/main" id="{2DB42F70-5660-423F-9033-D6532A336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586454"/>
                </a:solidFill>
                <a:latin typeface="Noto Sans"/>
                <a:ea typeface="Noto Sans"/>
                <a:cs typeface="Noto Sans"/>
              </a:rPr>
              <a:t>АТЛАС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3A0B14-B855-4B9B-BD99-8C3C283D4D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48804d1ef24e24"/>
          <a:srcRect xmlns:a="http://schemas.openxmlformats.org/drawingml/2006/main" l="27510" t="13904" r="28617" b="14045"/>
          <a:stretch xmlns:a="http://schemas.openxmlformats.org/drawingml/2006/main"/>
        </p:blipFill>
        <p:spPr>
          <a:xfrm xmlns:a="http://schemas.openxmlformats.org/drawingml/2006/main">
            <a:off x="609600" y="1685925"/>
            <a:ext cx="4667250" cy="4314053"/>
          </a:xfrm>
          <a:prstGeom xmlns:a="http://schemas.openxmlformats.org/drawingml/2006/main" prst="rect">
            <a:avLst/>
          </a:prstGeom>
        </p:spPr>
      </p:pic>
      <p:sp>
        <p:nvSpPr>
          <p:cNvPr id="6" name="Готовые карточки">
            <a:extLst xmlns:a="http://schemas.openxmlformats.org/drawingml/2006/main">
              <a:ext uri="{FF2B5EF4-FFF2-40B4-BE49-F238E27FC236}">
                <a16:creationId xmlns:a16="http://schemas.microsoft.com/office/drawing/2014/main" id="{94799622-B914-4694-A2CE-64C16F03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04975"/>
            <a:ext cx="557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pPr>
            <a:r>
              <a:rPr sz="2175" b="1">
                <a:solidFill>
                  <a:srgbClr val="202A25"/>
                </a:solidFill>
                <a:latin typeface="Noto Sans"/>
                <a:ea typeface="Noto Sans"/>
                <a:cs typeface="Noto Sans"/>
              </a:rPr>
              <a:t>Готовые карточки</a:t>
            </a:r>
          </a:p>
        </p:txBody>
      </p:sp>
      <p:sp>
        <p:nvSpPr>
          <p:cNvPr id="7" name="CSV / JSON для дальнейшей загрузки&#10;в товар">
            <a:extLst xmlns:a="http://schemas.openxmlformats.org/drawingml/2006/main">
              <a:ext uri="{FF2B5EF4-FFF2-40B4-BE49-F238E27FC236}">
                <a16:creationId xmlns:a16="http://schemas.microsoft.com/office/drawing/2014/main" id="{3E238C58-6A9D-4FF8-8231-5646D1BA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66950"/>
            <a:ext cx="5619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202A25"/>
                </a:solidFill>
                <a:latin typeface="Noto Sans"/>
                <a:ea typeface="Noto Sans"/>
                <a:cs typeface="Noto Sans"/>
              </a:rPr>
              <a:t>CSV / JSON для дальнейшей загрузки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202A25"/>
                </a:solidFill>
                <a:latin typeface="Noto Sans"/>
                <a:ea typeface="Noto Sans"/>
                <a:cs typeface="Noto Sans"/>
              </a:rPr>
              <a:t>в товарную систему. Для каждого значения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202A25"/>
                </a:solidFill>
                <a:latin typeface="Noto Sans"/>
                <a:ea typeface="Noto Sans"/>
                <a:cs typeface="Noto Sans"/>
              </a:rPr>
              <a:t>сохраняется происхождение решения.</a:t>
            </a:r>
          </a:p>
        </p:txBody>
      </p:sp>
      <p:sp>
        <p:nvSpPr>
          <p:cNvPr id="8" name="Контроль процесса">
            <a:extLst xmlns:a="http://schemas.openxmlformats.org/drawingml/2006/main">
              <a:ext uri="{FF2B5EF4-FFF2-40B4-BE49-F238E27FC236}">
                <a16:creationId xmlns:a16="http://schemas.microsoft.com/office/drawing/2014/main" id="{12CE5C3E-95B8-4869-8969-5FEDE314F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81425"/>
            <a:ext cx="557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pPr>
            <a:r>
              <a:rPr sz="2175" b="1">
                <a:solidFill>
                  <a:srgbClr val="202A25"/>
                </a:solidFill>
                <a:latin typeface="Noto Sans"/>
                <a:ea typeface="Noto Sans"/>
                <a:cs typeface="Noto Sans"/>
              </a:rPr>
              <a:t>Контроль процесса</a:t>
            </a:r>
          </a:p>
        </p:txBody>
      </p:sp>
      <p:sp>
        <p:nvSpPr>
          <p:cNvPr id="9" name="Аналитика показывает очередь, частые&#10;испра">
            <a:extLst xmlns:a="http://schemas.openxmlformats.org/drawingml/2006/main">
              <a:ext uri="{FF2B5EF4-FFF2-40B4-BE49-F238E27FC236}">
                <a16:creationId xmlns:a16="http://schemas.microsoft.com/office/drawing/2014/main" id="{E9A42450-BE4A-41C4-A4D7-DC1F0D13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43400"/>
            <a:ext cx="5619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202A25"/>
                </a:solidFill>
                <a:latin typeface="Noto Sans"/>
                <a:ea typeface="Noto Sans"/>
                <a:cs typeface="Noto Sans"/>
              </a:rPr>
              <a:t>Аналитика показывает очередь, частые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202A25"/>
                </a:solidFill>
                <a:latin typeface="Noto Sans"/>
                <a:ea typeface="Noto Sans"/>
                <a:cs typeface="Noto Sans"/>
              </a:rPr>
              <a:t>исправления и долю автоприёма.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202A25"/>
                </a:solidFill>
                <a:latin typeface="Noto Sans"/>
                <a:ea typeface="Noto Sans"/>
                <a:cs typeface="Noto Sans"/>
              </a:rPr>
              <a:t>Ручная правка перестаёт считаться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202A25"/>
                </a:solidFill>
                <a:latin typeface="Noto Sans"/>
                <a:ea typeface="Noto Sans"/>
                <a:cs typeface="Noto Sans"/>
              </a:rPr>
              <a:t>автоматическим решением.</a:t>
            </a:r>
          </a:p>
        </p:txBody>
      </p:sp>
      <p:sp>
        <p:nvSpPr>
          <p:cNvPr id="10" name="Результаты проверки помогают выбирать кате">
            <a:extLst xmlns:a="http://schemas.openxmlformats.org/drawingml/2006/main">
              <a:ext uri="{FF2B5EF4-FFF2-40B4-BE49-F238E27FC236}">
                <a16:creationId xmlns:a16="http://schemas.microsoft.com/office/drawing/2014/main" id="{9F6AA914-123C-437B-B34A-7EB8CFE3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991225"/>
            <a:ext cx="561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586454"/>
                </a:solidFill>
                <a:latin typeface="Noto Sans"/>
                <a:ea typeface="Noto Sans"/>
                <a:cs typeface="Noto Sans"/>
              </a:rPr>
              <a:t>Результаты проверки помогают выбирать категории для следующего улучшения.</a:t>
            </a:r>
          </a:p>
        </p:txBody>
      </p:sp>
    </p:spTree>
    <p:extLst>
      <p:ext uri="{BB962C8B-B14F-4D97-AF65-F5344CB8AC3E}">
        <p14:creationId xmlns:p14="http://schemas.microsoft.com/office/powerpoint/2010/main" val="10069696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Вопрос 4. Ценность для пользователя и бизн">
            <a:extLst xmlns:a="http://schemas.openxmlformats.org/drawingml/2006/main">
              <a:ext uri="{FF2B5EF4-FFF2-40B4-BE49-F238E27FC236}">
                <a16:creationId xmlns:a16="http://schemas.microsoft.com/office/drawing/2014/main" id="{C516F2E9-0FF4-4839-8687-64565886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586454"/>
                </a:solidFill>
                <a:latin typeface="Noto Sans"/>
                <a:ea typeface="Noto Sans"/>
                <a:cs typeface="Noto Sans"/>
              </a:rPr>
              <a:t>Вопрос 4. Ценность для пользователя и бизнеса</a:t>
            </a:r>
          </a:p>
        </p:txBody>
      </p:sp>
      <p:sp>
        <p:nvSpPr>
          <p:cNvPr id="2" name="09 / 10">
            <a:extLst xmlns:a="http://schemas.openxmlformats.org/drawingml/2006/main">
              <a:ext uri="{FF2B5EF4-FFF2-40B4-BE49-F238E27FC236}">
                <a16:creationId xmlns:a16="http://schemas.microsoft.com/office/drawing/2014/main" id="{E32256D4-3463-4BC9-9CC0-CBA055523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95275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125" b="0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586454"/>
                </a:solidFill>
                <a:latin typeface="Noto Sans"/>
                <a:ea typeface="Noto Sans"/>
                <a:cs typeface="Noto Sans"/>
              </a:rPr>
              <a:t>09 / 10</a:t>
            </a:r>
          </a:p>
        </p:txBody>
      </p:sp>
      <p:sp>
        <p:nvSpPr>
          <p:cNvPr id="3" name="Ценность решения">
            <a:extLst xmlns:a="http://schemas.openxmlformats.org/drawingml/2006/main">
              <a:ext uri="{FF2B5EF4-FFF2-40B4-BE49-F238E27FC236}">
                <a16:creationId xmlns:a16="http://schemas.microsoft.com/office/drawing/2014/main" id="{E21DBB14-559D-4443-BDA0-E7942043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300" b="1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202A25"/>
                </a:solidFill>
                <a:latin typeface="Noto Sans"/>
                <a:ea typeface="Noto Sans"/>
                <a:cs typeface="Noto Sans"/>
              </a:rPr>
              <a:t>Ценность решения</a:t>
            </a:r>
          </a:p>
        </p:txBody>
      </p:sp>
      <p:sp>
        <p:nvSpPr>
          <p:cNvPr id="4" name="АТЛАС">
            <a:extLst xmlns:a="http://schemas.openxmlformats.org/drawingml/2006/main">
              <a:ext uri="{FF2B5EF4-FFF2-40B4-BE49-F238E27FC236}">
                <a16:creationId xmlns:a16="http://schemas.microsoft.com/office/drawing/2014/main" id="{EB88C427-7E8A-46D3-98F9-D8BB2081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586454"/>
                </a:solidFill>
                <a:latin typeface="Noto Sans"/>
                <a:ea typeface="Noto Sans"/>
                <a:cs typeface="Noto Sans"/>
              </a:rPr>
              <a:t>АТЛАС</a:t>
            </a:r>
          </a:p>
        </p:txBody>
      </p:sp>
      <p:sp>
        <p:nvSpPr>
          <p:cNvPr id="5" name="Контент-менеджер">
            <a:extLst xmlns:a="http://schemas.openxmlformats.org/drawingml/2006/main">
              <a:ext uri="{FF2B5EF4-FFF2-40B4-BE49-F238E27FC236}">
                <a16:creationId xmlns:a16="http://schemas.microsoft.com/office/drawing/2014/main" id="{7633D01A-7C4E-40F7-A4AB-9F6571C8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73D35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173D35"/>
                </a:solidFill>
                <a:latin typeface="Noto Sans"/>
                <a:ea typeface="Noto Sans"/>
                <a:cs typeface="Noto Sans"/>
              </a:defRPr>
            </a:pPr>
            <a:r>
              <a:rPr sz="2250" b="1">
                <a:solidFill>
                  <a:srgbClr val="173D35"/>
                </a:solidFill>
                <a:latin typeface="Noto Sans"/>
                <a:ea typeface="Noto Sans"/>
                <a:cs typeface="Noto Sans"/>
              </a:rPr>
              <a:t>Контент-менеджер</a:t>
            </a:r>
          </a:p>
        </p:txBody>
      </p:sp>
      <p:sp>
        <p:nvSpPr>
          <p:cNvPr id="6" name="Проверяет предложение и цитату&#10;вместо ручн">
            <a:extLst xmlns:a="http://schemas.openxmlformats.org/drawingml/2006/main">
              <a:ext uri="{FF2B5EF4-FFF2-40B4-BE49-F238E27FC236}">
                <a16:creationId xmlns:a16="http://schemas.microsoft.com/office/drawing/2014/main" id="{7CE0BA03-3F70-4327-8BC6-290E14B6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05075"/>
            <a:ext cx="5048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202A25"/>
                </a:solidFill>
                <a:latin typeface="Noto Sans"/>
                <a:ea typeface="Noto Sans"/>
                <a:cs typeface="Noto Sans"/>
              </a:rPr>
              <a:t>Проверяет предложение и цитату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202A25"/>
                </a:solidFill>
                <a:latin typeface="Noto Sans"/>
                <a:ea typeface="Noto Sans"/>
                <a:cs typeface="Noto Sans"/>
              </a:rPr>
              <a:t>вместо ручного переноса всех полей.</a:t>
            </a:r>
          </a:p>
        </p:txBody>
      </p:sp>
      <p:sp>
        <p:nvSpPr>
          <p:cNvPr id="7" name="Сразу видит, где есть конфликт&#10;и какое реш">
            <a:extLst xmlns:a="http://schemas.openxmlformats.org/drawingml/2006/main">
              <a:ext uri="{FF2B5EF4-FFF2-40B4-BE49-F238E27FC236}">
                <a16:creationId xmlns:a16="http://schemas.microsoft.com/office/drawing/2014/main" id="{7A530165-9804-495B-B327-DD54A5CB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5048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202A25"/>
                </a:solidFill>
                <a:latin typeface="Noto Sans"/>
                <a:ea typeface="Noto Sans"/>
                <a:cs typeface="Noto Sans"/>
              </a:rPr>
              <a:t>Сразу видит, где есть конфликт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202A25"/>
                </a:solidFill>
                <a:latin typeface="Noto Sans"/>
                <a:ea typeface="Noto Sans"/>
                <a:cs typeface="Noto Sans"/>
              </a:rPr>
              <a:t>и какое решение требуется.</a:t>
            </a:r>
          </a:p>
        </p:txBody>
      </p:sp>
      <p:sp>
        <p:nvSpPr>
          <p:cNvPr id="8" name="Использует единые словари&#10;и понятные стату">
            <a:extLst xmlns:a="http://schemas.openxmlformats.org/drawingml/2006/main">
              <a:ext uri="{FF2B5EF4-FFF2-40B4-BE49-F238E27FC236}">
                <a16:creationId xmlns:a16="http://schemas.microsoft.com/office/drawing/2014/main" id="{CE77FB5B-7782-4E6A-8B34-7E8577CB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5048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202A25"/>
                </a:solidFill>
                <a:latin typeface="Noto Sans"/>
                <a:ea typeface="Noto Sans"/>
                <a:cs typeface="Noto Sans"/>
              </a:rPr>
              <a:t>Использует единые словари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202A25"/>
                </a:solidFill>
                <a:latin typeface="Noto Sans"/>
                <a:ea typeface="Noto Sans"/>
                <a:cs typeface="Noto Sans"/>
              </a:rPr>
              <a:t>и понятные статусы карточек.</a:t>
            </a:r>
          </a:p>
        </p:txBody>
      </p:sp>
      <p:sp>
        <p:nvSpPr>
          <p:cNvPr id="9" name="Бизнес">
            <a:extLst xmlns:a="http://schemas.openxmlformats.org/drawingml/2006/main">
              <a:ext uri="{FF2B5EF4-FFF2-40B4-BE49-F238E27FC236}">
                <a16:creationId xmlns:a16="http://schemas.microsoft.com/office/drawing/2014/main" id="{CF8880EA-4B56-493A-AEEF-DD98B9BE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62125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73D35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173D35"/>
                </a:solidFill>
                <a:latin typeface="Noto Sans"/>
                <a:ea typeface="Noto Sans"/>
                <a:cs typeface="Noto Sans"/>
              </a:defRPr>
            </a:pPr>
            <a:r>
              <a:rPr sz="2250" b="1">
                <a:solidFill>
                  <a:srgbClr val="173D35"/>
                </a:solidFill>
                <a:latin typeface="Noto Sans"/>
                <a:ea typeface="Noto Sans"/>
                <a:cs typeface="Noto Sans"/>
              </a:rPr>
              <a:t>Бизнес</a:t>
            </a:r>
          </a:p>
        </p:txBody>
      </p:sp>
      <p:sp>
        <p:nvSpPr>
          <p:cNvPr id="10" name="Меньше времени на подготовку&#10;товаров к пуб">
            <a:extLst xmlns:a="http://schemas.openxmlformats.org/drawingml/2006/main">
              <a:ext uri="{FF2B5EF4-FFF2-40B4-BE49-F238E27FC236}">
                <a16:creationId xmlns:a16="http://schemas.microsoft.com/office/drawing/2014/main" id="{8A488B28-BA88-447B-93CE-E4F7E4DC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05075"/>
            <a:ext cx="5048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202A25"/>
                </a:solidFill>
                <a:latin typeface="Noto Sans"/>
                <a:ea typeface="Noto Sans"/>
                <a:cs typeface="Noto Sans"/>
              </a:rPr>
              <a:t>Меньше времени на подготовку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202A25"/>
                </a:solidFill>
                <a:latin typeface="Noto Sans"/>
                <a:ea typeface="Noto Sans"/>
                <a:cs typeface="Noto Sans"/>
              </a:rPr>
              <a:t>товаров к публикации.</a:t>
            </a:r>
          </a:p>
        </p:txBody>
      </p:sp>
      <p:sp>
        <p:nvSpPr>
          <p:cNvPr id="11" name="Единообразные характеристики&#10;для поиска и ">
            <a:extLst xmlns:a="http://schemas.openxmlformats.org/drawingml/2006/main">
              <a:ext uri="{FF2B5EF4-FFF2-40B4-BE49-F238E27FC236}">
                <a16:creationId xmlns:a16="http://schemas.microsoft.com/office/drawing/2014/main" id="{91A951C4-126C-4273-B295-C6B03FB3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43325"/>
            <a:ext cx="5048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202A25"/>
                </a:solidFill>
                <a:latin typeface="Noto Sans"/>
                <a:ea typeface="Noto Sans"/>
                <a:cs typeface="Noto Sans"/>
              </a:rPr>
              <a:t>Единообразные характеристики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202A25"/>
                </a:solidFill>
                <a:latin typeface="Noto Sans"/>
                <a:ea typeface="Noto Sans"/>
                <a:cs typeface="Noto Sans"/>
              </a:rPr>
              <a:t>для поиска и фильтров каталога.</a:t>
            </a:r>
          </a:p>
        </p:txBody>
      </p:sp>
      <p:sp>
        <p:nvSpPr>
          <p:cNvPr id="12" name="Выбор технологии по полной цене,&#10;включая п">
            <a:extLst xmlns:a="http://schemas.openxmlformats.org/drawingml/2006/main">
              <a:ext uri="{FF2B5EF4-FFF2-40B4-BE49-F238E27FC236}">
                <a16:creationId xmlns:a16="http://schemas.microsoft.com/office/drawing/2014/main" id="{146DA8A3-DDCA-4EE0-B518-0D180AC0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981575"/>
            <a:ext cx="5048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202A25"/>
                </a:solidFill>
                <a:latin typeface="Noto Sans"/>
                <a:ea typeface="Noto Sans"/>
                <a:cs typeface="Noto Sans"/>
              </a:rPr>
              <a:t>Выбор технологии по полной цене,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202A25"/>
                </a:solidFill>
                <a:latin typeface="Noto Sans"/>
                <a:ea typeface="Noto Sans"/>
                <a:cs typeface="Noto Sans"/>
              </a:rPr>
              <a:t>включая проверку человеком.</a:t>
            </a:r>
          </a:p>
        </p:txBody>
      </p:sp>
      <p:sp>
        <p:nvSpPr>
          <p:cNvPr id="13" name="Ожидаемый эффект проверим в пилоте: время ">
            <a:extLst xmlns:a="http://schemas.openxmlformats.org/drawingml/2006/main">
              <a:ext uri="{FF2B5EF4-FFF2-40B4-BE49-F238E27FC236}">
                <a16:creationId xmlns:a16="http://schemas.microsoft.com/office/drawing/2014/main" id="{99DC40B1-141D-4A88-B840-EF97C3E2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586454"/>
                </a:solidFill>
                <a:latin typeface="Noto Sans"/>
                <a:ea typeface="Noto Sans"/>
                <a:cs typeface="Noto Sans"/>
              </a:rPr>
              <a:t>Ожидаемый эффект проверим в пилоте: время работы, ошибки и стоимость одной готовой карточки.</a:t>
            </a:r>
          </a:p>
        </p:txBody>
      </p:sp>
    </p:spTree>
    <p:extLst>
      <p:ext uri="{BB962C8B-B14F-4D97-AF65-F5344CB8AC3E}">
        <p14:creationId xmlns:p14="http://schemas.microsoft.com/office/powerpoint/2010/main" val="7379581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Вопрос 5. Метрики успеха">
            <a:extLst xmlns:a="http://schemas.openxmlformats.org/drawingml/2006/main">
              <a:ext uri="{FF2B5EF4-FFF2-40B4-BE49-F238E27FC236}">
                <a16:creationId xmlns:a16="http://schemas.microsoft.com/office/drawing/2014/main" id="{D96CC301-03C7-4DEE-828B-4DA644347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586454"/>
                </a:solidFill>
                <a:latin typeface="Noto Sans"/>
                <a:ea typeface="Noto Sans"/>
                <a:cs typeface="Noto Sans"/>
              </a:rPr>
              <a:t>Вопрос 5. Метрики успеха</a:t>
            </a:r>
          </a:p>
        </p:txBody>
      </p:sp>
      <p:sp>
        <p:nvSpPr>
          <p:cNvPr id="2" name="10 / 10">
            <a:extLst xmlns:a="http://schemas.openxmlformats.org/drawingml/2006/main">
              <a:ext uri="{FF2B5EF4-FFF2-40B4-BE49-F238E27FC236}">
                <a16:creationId xmlns:a16="http://schemas.microsoft.com/office/drawing/2014/main" id="{55D507BB-7065-4DEC-800D-49C3C4EF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95275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125" b="0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586454"/>
                </a:solidFill>
                <a:latin typeface="Noto Sans"/>
                <a:ea typeface="Noto Sans"/>
                <a:cs typeface="Noto Sans"/>
              </a:rPr>
              <a:t>10 / 10</a:t>
            </a:r>
          </a:p>
        </p:txBody>
      </p:sp>
      <p:sp>
        <p:nvSpPr>
          <p:cNvPr id="3" name="Критерии выбора и успеха">
            <a:extLst xmlns:a="http://schemas.openxmlformats.org/drawingml/2006/main">
              <a:ext uri="{FF2B5EF4-FFF2-40B4-BE49-F238E27FC236}">
                <a16:creationId xmlns:a16="http://schemas.microsoft.com/office/drawing/2014/main" id="{0B002C33-389F-4D4A-AF8F-40ED25142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300" b="1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202A25"/>
                </a:solidFill>
                <a:latin typeface="Noto Sans"/>
                <a:ea typeface="Noto Sans"/>
                <a:cs typeface="Noto Sans"/>
              </a:rPr>
              <a:t>Критерии выбора и успеха</a:t>
            </a:r>
          </a:p>
        </p:txBody>
      </p:sp>
      <p:sp>
        <p:nvSpPr>
          <p:cNvPr id="4" name="АТЛАС">
            <a:extLst xmlns:a="http://schemas.openxmlformats.org/drawingml/2006/main">
              <a:ext uri="{FF2B5EF4-FFF2-40B4-BE49-F238E27FC236}">
                <a16:creationId xmlns:a16="http://schemas.microsoft.com/office/drawing/2014/main" id="{48EBBA71-0084-4306-95B9-11857AB7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586454"/>
                </a:solidFill>
                <a:latin typeface="Noto Sans"/>
                <a:ea typeface="Noto Sans"/>
                <a:cs typeface="Noto Sans"/>
              </a:rPr>
              <a:t>АТЛАС</a:t>
            </a:r>
          </a:p>
        </p:txBody>
      </p:sp>
      <p:sp>
        <p:nvSpPr>
          <p:cNvPr id="5" name="Единый эталон с ручной проверкой, отдельны">
            <a:extLst xmlns:a="http://schemas.openxmlformats.org/drawingml/2006/main">
              <a:ext uri="{FF2B5EF4-FFF2-40B4-BE49-F238E27FC236}">
                <a16:creationId xmlns:a16="http://schemas.microsoft.com/office/drawing/2014/main" id="{6461FD02-721F-4F2B-9A02-A708F29E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202A25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202A25"/>
                </a:solidFill>
                <a:latin typeface="Noto Sans"/>
                <a:ea typeface="Noto Sans"/>
                <a:cs typeface="Noto Sans"/>
              </a:rPr>
              <a:t>Единый эталон с ручной проверкой, отдельный test и одинаковые правила оценки.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7D66D0-D8C4-4512-A459-D9B8E9B463D3}"/>
              </a:ext>
            </a:extLst>
          </p:cNvPr>
          <p:cNvGraphicFramePr/>
          <p:nvPr/>
        </p:nvGraphicFramePr>
        <p:xfrm>
          <a:off xmlns:a="http://schemas.openxmlformats.org/drawingml/2006/main" x="609600" y="2133600"/>
          <a:ext xmlns:a="http://schemas.openxmlformats.org/drawingml/2006/main" cx="10972800" cy="30956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524250"/>
                <a:gridCol w="7448550"/>
              </a:tblGrid>
              <a:tr h="38100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Показатель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9CF"/>
                      </a:solidFill>
                      <a:prstDash val="solid"/>
                    </a:lnL>
                    <a:lnR w="9525">
                      <a:solidFill>
                        <a:srgbClr val="D5D9CF"/>
                      </a:solidFill>
                      <a:prstDash val="solid"/>
                    </a:lnR>
                    <a:lnT w="9525">
                      <a:solidFill>
                        <a:srgbClr val="D5D9CF"/>
                      </a:solidFill>
                      <a:prstDash val="solid"/>
                    </a:lnT>
                    <a:lnB w="9525">
                      <a:solidFill>
                        <a:srgbClr val="D5D9CF"/>
                      </a:solidFill>
                      <a:prstDash val="solid"/>
                    </a:lnB>
                    <a:solidFill>
                      <a:srgbClr val="173D35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Как проверяем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9CF"/>
                      </a:solidFill>
                      <a:prstDash val="solid"/>
                    </a:lnR>
                    <a:lnT w="9525">
                      <a:solidFill>
                        <a:srgbClr val="D5D9CF"/>
                      </a:solidFill>
                      <a:prstDash val="solid"/>
                    </a:lnT>
                    <a:lnB w="9525">
                      <a:solidFill>
                        <a:srgbClr val="D5D9CF"/>
                      </a:solidFill>
                      <a:prstDash val="solid"/>
                    </a:lnB>
                    <a:solidFill>
                      <a:srgbClr val="173D35"/>
                    </a:solidFill>
                  </a:tcPr>
                </a:tc>
              </a:tr>
              <a:tr h="542925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202A25"/>
                          </a:solidFill>
                          <a:latin typeface="Noto Sans"/>
                          <a:ea typeface="Noto Sans"/>
                          <a:cs typeface="Noto Sans"/>
                        </a:rPr>
                        <a:t>Качество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9CF"/>
                      </a:solidFill>
                      <a:prstDash val="solid"/>
                    </a:lnL>
                    <a:lnR w="9525">
                      <a:solidFill>
                        <a:srgbClr val="D5D9CF"/>
                      </a:solidFill>
                      <a:prstDash val="solid"/>
                    </a:lnR>
                    <a:lnB w="9525">
                      <a:solidFill>
                        <a:srgbClr val="D5D9CF"/>
                      </a:solidFill>
                      <a:prstDash val="solid"/>
                    </a:lnB>
                    <a:solidFill>
                      <a:srgbClr val="F4F2E9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02A25"/>
                          </a:solidFill>
                          <a:latin typeface="Noto Sans"/>
                          <a:ea typeface="Noto Sans"/>
                          <a:cs typeface="Noto Sans"/>
                        </a:rPr>
                        <a:t>Micro F1 нормализованных пар и macro F1 по категориям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9CF"/>
                      </a:solidFill>
                      <a:prstDash val="solid"/>
                    </a:lnR>
                    <a:lnB w="9525">
                      <a:solidFill>
                        <a:srgbClr val="D5D9CF"/>
                      </a:solidFill>
                      <a:prstDash val="solid"/>
                    </a:lnB>
                    <a:solidFill>
                      <a:srgbClr val="F4F2E9"/>
                    </a:solidFill>
                  </a:tcPr>
                </a:tc>
              </a:tr>
              <a:tr h="542925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202A25"/>
                          </a:solidFill>
                          <a:latin typeface="Noto Sans"/>
                          <a:ea typeface="Noto Sans"/>
                          <a:cs typeface="Noto Sans"/>
                        </a:rPr>
                        <a:t>Надёжность автоприёма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9CF"/>
                      </a:solidFill>
                      <a:prstDash val="solid"/>
                    </a:lnL>
                    <a:lnR w="9525">
                      <a:solidFill>
                        <a:srgbClr val="D5D9CF"/>
                      </a:solidFill>
                      <a:prstDash val="solid"/>
                    </a:lnR>
                    <a:lnB w="9525">
                      <a:solidFill>
                        <a:srgbClr val="D5D9CF"/>
                      </a:solidFill>
                      <a:prstDash val="solid"/>
                    </a:lnB>
                    <a:solidFill>
                      <a:srgbClr val="F4F2E9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02A25"/>
                          </a:solidFill>
                          <a:latin typeface="Noto Sans"/>
                          <a:ea typeface="Noto Sans"/>
                          <a:cs typeface="Noto Sans"/>
                        </a:rPr>
                        <a:t>Precision автоматически принятых значений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9CF"/>
                      </a:solidFill>
                      <a:prstDash val="solid"/>
                    </a:lnR>
                    <a:lnB w="9525">
                      <a:solidFill>
                        <a:srgbClr val="D5D9CF"/>
                      </a:solidFill>
                      <a:prstDash val="solid"/>
                    </a:lnB>
                    <a:solidFill>
                      <a:srgbClr val="F4F2E9"/>
                    </a:solidFill>
                  </a:tcPr>
                </a:tc>
              </a:tr>
              <a:tr h="542925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202A25"/>
                          </a:solidFill>
                          <a:latin typeface="Noto Sans"/>
                          <a:ea typeface="Noto Sans"/>
                          <a:cs typeface="Noto Sans"/>
                        </a:rPr>
                        <a:t>Автоматизация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9CF"/>
                      </a:solidFill>
                      <a:prstDash val="solid"/>
                    </a:lnL>
                    <a:lnR w="9525">
                      <a:solidFill>
                        <a:srgbClr val="D5D9CF"/>
                      </a:solidFill>
                      <a:prstDash val="solid"/>
                    </a:lnR>
                    <a:lnB w="9525">
                      <a:solidFill>
                        <a:srgbClr val="D5D9CF"/>
                      </a:solidFill>
                      <a:prstDash val="solid"/>
                    </a:lnB>
                    <a:solidFill>
                      <a:srgbClr val="F4F2E9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02A25"/>
                          </a:solidFill>
                          <a:latin typeface="Noto Sans"/>
                          <a:ea typeface="Noto Sans"/>
                          <a:cs typeface="Noto Sans"/>
                        </a:rPr>
                        <a:t>Автоматически принятые поля / все применимые поля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9CF"/>
                      </a:solidFill>
                      <a:prstDash val="solid"/>
                    </a:lnR>
                    <a:lnB w="9525">
                      <a:solidFill>
                        <a:srgbClr val="D5D9CF"/>
                      </a:solidFill>
                      <a:prstDash val="solid"/>
                    </a:lnB>
                    <a:solidFill>
                      <a:srgbClr val="F4F2E9"/>
                    </a:solidFill>
                  </a:tcPr>
                </a:tc>
              </a:tr>
              <a:tr h="542925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202A25"/>
                          </a:solidFill>
                          <a:latin typeface="Noto Sans"/>
                          <a:ea typeface="Noto Sans"/>
                          <a:cs typeface="Noto Sans"/>
                        </a:rPr>
                        <a:t>Скорость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9CF"/>
                      </a:solidFill>
                      <a:prstDash val="solid"/>
                    </a:lnL>
                    <a:lnR w="9525">
                      <a:solidFill>
                        <a:srgbClr val="D5D9CF"/>
                      </a:solidFill>
                      <a:prstDash val="solid"/>
                    </a:lnR>
                    <a:lnB w="9525">
                      <a:solidFill>
                        <a:srgbClr val="D5D9CF"/>
                      </a:solidFill>
                      <a:prstDash val="solid"/>
                    </a:lnB>
                    <a:solidFill>
                      <a:srgbClr val="F4F2E9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02A25"/>
                          </a:solidFill>
                          <a:latin typeface="Noto Sans"/>
                          <a:ea typeface="Noto Sans"/>
                          <a:cs typeface="Noto Sans"/>
                        </a:rPr>
                        <a:t>P50 / P95 обработки и время ручной проверки карточки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9CF"/>
                      </a:solidFill>
                      <a:prstDash val="solid"/>
                    </a:lnR>
                    <a:lnB w="9525">
                      <a:solidFill>
                        <a:srgbClr val="D5D9CF"/>
                      </a:solidFill>
                      <a:prstDash val="solid"/>
                    </a:lnB>
                    <a:solidFill>
                      <a:srgbClr val="F4F2E9"/>
                    </a:solidFill>
                  </a:tcPr>
                </a:tc>
              </a:tr>
              <a:tr h="542925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202A25"/>
                          </a:solidFill>
                          <a:latin typeface="Noto Sans"/>
                          <a:ea typeface="Noto Sans"/>
                          <a:cs typeface="Noto Sans"/>
                        </a:rPr>
                        <a:t>Полная стоимость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9CF"/>
                      </a:solidFill>
                      <a:prstDash val="solid"/>
                    </a:lnL>
                    <a:lnR w="9525">
                      <a:solidFill>
                        <a:srgbClr val="D5D9CF"/>
                      </a:solidFill>
                      <a:prstDash val="solid"/>
                    </a:lnR>
                    <a:lnB w="9525">
                      <a:solidFill>
                        <a:srgbClr val="D5D9CF"/>
                      </a:solidFill>
                      <a:prstDash val="solid"/>
                    </a:lnB>
                    <a:solidFill>
                      <a:srgbClr val="F4F2E9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02A25"/>
                          </a:solidFill>
                          <a:latin typeface="Noto Sans"/>
                          <a:ea typeface="Noto Sans"/>
                          <a:cs typeface="Noto Sans"/>
                        </a:rPr>
                        <a:t>₽ за 1000 готовых карточек, включая вычисления и труд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9CF"/>
                      </a:solidFill>
                      <a:prstDash val="solid"/>
                    </a:lnR>
                    <a:lnB w="9525">
                      <a:solidFill>
                        <a:srgbClr val="D5D9CF"/>
                      </a:solidFill>
                      <a:prstDash val="solid"/>
                    </a:lnB>
                    <a:solidFill>
                      <a:srgbClr val="F4F2E9"/>
                    </a:solidFill>
                  </a:tcPr>
                </a:tc>
              </a:tr>
            </a:tbl>
          </a:graphicData>
        </a:graphic>
      </p:graphicFrame>
      <p:sp>
        <p:nvSpPr>
          <p:cNvPr id="7" name="Предлагаемый порог: precision автоприёма н">
            <a:extLst xmlns:a="http://schemas.openxmlformats.org/drawingml/2006/main">
              <a:ext uri="{FF2B5EF4-FFF2-40B4-BE49-F238E27FC236}">
                <a16:creationId xmlns:a16="http://schemas.microsoft.com/office/drawing/2014/main" id="{1DB6F58F-9B6D-4AB4-BFB9-CC523EA5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59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586454"/>
                </a:solidFill>
                <a:latin typeface="Noto Sans"/>
                <a:ea typeface="Noto Sans"/>
                <a:cs typeface="Noto Sans"/>
              </a:rPr>
              <a:t>Предлагаемый порог: precision автоприёма не ниже 98%.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586454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586454"/>
                </a:solidFill>
                <a:latin typeface="Noto Sans"/>
                <a:ea typeface="Noto Sans"/>
                <a:cs typeface="Noto Sans"/>
              </a:rPr>
              <a:t>Обучение и поддержку учитываем в стоимости на выбранном объёме каталога.</a:t>
            </a:r>
          </a:p>
        </p:txBody>
      </p:sp>
      <p:sp>
        <p:nvSpPr>
          <p:cNvPr id="8" name="Выберем самый экономичный вариант, который">
            <a:extLst xmlns:a="http://schemas.openxmlformats.org/drawingml/2006/main">
              <a:ext uri="{FF2B5EF4-FFF2-40B4-BE49-F238E27FC236}">
                <a16:creationId xmlns:a16="http://schemas.microsoft.com/office/drawing/2014/main" id="{8CBA28F2-29AF-4A28-8E7E-0C6DE83D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73D35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173D35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173D35"/>
                </a:solidFill>
                <a:latin typeface="Noto Sans"/>
                <a:ea typeface="Noto Sans"/>
                <a:cs typeface="Noto Sans"/>
              </a:rPr>
              <a:t>Выберем самый экономичный вариант, который проходит пороги качества и скорости.</a:t>
            </a:r>
          </a:p>
        </p:txBody>
      </p:sp>
    </p:spTree>
    <p:extLst>
      <p:ext uri="{BB962C8B-B14F-4D97-AF65-F5344CB8AC3E}">
        <p14:creationId xmlns:p14="http://schemas.microsoft.com/office/powerpoint/2010/main" val="14332220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2026-10-15T11:49:30.7480000Z</dcterms:created>
  <dcterms:modified xsi:type="dcterms:W3CDTF">2026-10-15T11:49:30.7480000Z</dcterms:modified>
</coreProperties>
</file>